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0" r:id="rId5"/>
    <p:sldId id="696" r:id="rId6"/>
    <p:sldId id="534" r:id="rId7"/>
    <p:sldId id="697" r:id="rId8"/>
    <p:sldId id="695" r:id="rId9"/>
    <p:sldId id="698" r:id="rId10"/>
    <p:sldId id="687" r:id="rId11"/>
    <p:sldId id="688" r:id="rId12"/>
    <p:sldId id="682" r:id="rId13"/>
    <p:sldId id="538" r:id="rId14"/>
  </p:sldIdLst>
  <p:sldSz cx="9144000" cy="6858000" type="letter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0000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0000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0000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0000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9FF"/>
    <a:srgbClr val="BA75FF"/>
    <a:srgbClr val="FFFF99"/>
    <a:srgbClr val="FAACB2"/>
    <a:srgbClr val="DDDDDD"/>
    <a:srgbClr val="F8F571"/>
    <a:srgbClr val="9CB5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AD5FE-1342-4742-A051-15A5AC65580D}" v="12" dt="2022-06-01T17:30:23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79906" autoAdjust="0"/>
  </p:normalViewPr>
  <p:slideViewPr>
    <p:cSldViewPr snapToGrid="0">
      <p:cViewPr varScale="1">
        <p:scale>
          <a:sx n="75" d="100"/>
          <a:sy n="75" d="100"/>
        </p:scale>
        <p:origin x="2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Smith" userId="221d53bf-0a39-49db-b3a3-9148fadfd20a" providerId="ADAL" clId="{05DAD5FE-1342-4742-A051-15A5AC65580D}"/>
    <pc:docChg chg="custSel delSld modSld">
      <pc:chgData name="Matthew Smith" userId="221d53bf-0a39-49db-b3a3-9148fadfd20a" providerId="ADAL" clId="{05DAD5FE-1342-4742-A051-15A5AC65580D}" dt="2022-06-09T16:26:24.228" v="44" actId="20577"/>
      <pc:docMkLst>
        <pc:docMk/>
      </pc:docMkLst>
      <pc:sldChg chg="modSp mod">
        <pc:chgData name="Matthew Smith" userId="221d53bf-0a39-49db-b3a3-9148fadfd20a" providerId="ADAL" clId="{05DAD5FE-1342-4742-A051-15A5AC65580D}" dt="2022-06-09T16:26:24.228" v="44" actId="20577"/>
        <pc:sldMkLst>
          <pc:docMk/>
          <pc:sldMk cId="0" sldId="260"/>
        </pc:sldMkLst>
        <pc:spChg chg="mod">
          <ac:chgData name="Matthew Smith" userId="221d53bf-0a39-49db-b3a3-9148fadfd20a" providerId="ADAL" clId="{05DAD5FE-1342-4742-A051-15A5AC65580D}" dt="2022-06-09T16:26:24.228" v="44" actId="20577"/>
          <ac:spMkLst>
            <pc:docMk/>
            <pc:sldMk cId="0" sldId="260"/>
            <ac:spMk id="429062" creationId="{00000000-0000-0000-0000-000000000000}"/>
          </ac:spMkLst>
        </pc:spChg>
      </pc:sldChg>
      <pc:sldChg chg="addSp modSp mod">
        <pc:chgData name="Matthew Smith" userId="221d53bf-0a39-49db-b3a3-9148fadfd20a" providerId="ADAL" clId="{05DAD5FE-1342-4742-A051-15A5AC65580D}" dt="2022-06-01T17:30:26.252" v="42" actId="1076"/>
        <pc:sldMkLst>
          <pc:docMk/>
          <pc:sldMk cId="2476920668" sldId="682"/>
        </pc:sldMkLst>
        <pc:spChg chg="add mod">
          <ac:chgData name="Matthew Smith" userId="221d53bf-0a39-49db-b3a3-9148fadfd20a" providerId="ADAL" clId="{05DAD5FE-1342-4742-A051-15A5AC65580D}" dt="2022-06-01T17:30:19.988" v="38" actId="1076"/>
          <ac:spMkLst>
            <pc:docMk/>
            <pc:sldMk cId="2476920668" sldId="682"/>
            <ac:spMk id="16" creationId="{4BC8F56D-9AB5-4755-9DB5-49B385B615AF}"/>
          </ac:spMkLst>
        </pc:spChg>
        <pc:spChg chg="add mod">
          <ac:chgData name="Matthew Smith" userId="221d53bf-0a39-49db-b3a3-9148fadfd20a" providerId="ADAL" clId="{05DAD5FE-1342-4742-A051-15A5AC65580D}" dt="2022-06-01T17:30:23.260" v="40" actId="1076"/>
          <ac:spMkLst>
            <pc:docMk/>
            <pc:sldMk cId="2476920668" sldId="682"/>
            <ac:spMk id="18" creationId="{F6E2E0F9-18E7-499E-8A6B-D78B84A34021}"/>
          </ac:spMkLst>
        </pc:spChg>
        <pc:spChg chg="add mod">
          <ac:chgData name="Matthew Smith" userId="221d53bf-0a39-49db-b3a3-9148fadfd20a" providerId="ADAL" clId="{05DAD5FE-1342-4742-A051-15A5AC65580D}" dt="2022-06-01T17:30:26.252" v="42" actId="1076"/>
          <ac:spMkLst>
            <pc:docMk/>
            <pc:sldMk cId="2476920668" sldId="682"/>
            <ac:spMk id="19" creationId="{70D8B838-73BE-40F8-8E09-179B77D2BFAB}"/>
          </ac:spMkLst>
        </pc:spChg>
      </pc:sldChg>
      <pc:sldChg chg="addSp delSp modSp mod">
        <pc:chgData name="Matthew Smith" userId="221d53bf-0a39-49db-b3a3-9148fadfd20a" providerId="ADAL" clId="{05DAD5FE-1342-4742-A051-15A5AC65580D}" dt="2022-06-01T17:28:57.773" v="29" actId="1036"/>
        <pc:sldMkLst>
          <pc:docMk/>
          <pc:sldMk cId="1743520571" sldId="687"/>
        </pc:sldMkLst>
        <pc:spChg chg="add del mod">
          <ac:chgData name="Matthew Smith" userId="221d53bf-0a39-49db-b3a3-9148fadfd20a" providerId="ADAL" clId="{05DAD5FE-1342-4742-A051-15A5AC65580D}" dt="2022-06-01T17:28:37.724" v="21" actId="478"/>
          <ac:spMkLst>
            <pc:docMk/>
            <pc:sldMk cId="1743520571" sldId="687"/>
            <ac:spMk id="2" creationId="{CC6C0618-6F68-44F0-AE38-68FCD6EF5C61}"/>
          </ac:spMkLst>
        </pc:spChg>
        <pc:spChg chg="add mod">
          <ac:chgData name="Matthew Smith" userId="221d53bf-0a39-49db-b3a3-9148fadfd20a" providerId="ADAL" clId="{05DAD5FE-1342-4742-A051-15A5AC65580D}" dt="2022-06-01T17:28:57.773" v="29" actId="1036"/>
          <ac:spMkLst>
            <pc:docMk/>
            <pc:sldMk cId="1743520571" sldId="687"/>
            <ac:spMk id="16" creationId="{7FA8D354-68C4-462F-9BEA-C581787AF490}"/>
          </ac:spMkLst>
        </pc:spChg>
        <pc:picChg chg="add mod">
          <ac:chgData name="Matthew Smith" userId="221d53bf-0a39-49db-b3a3-9148fadfd20a" providerId="ADAL" clId="{05DAD5FE-1342-4742-A051-15A5AC65580D}" dt="2022-06-01T17:28:52.749" v="24" actId="27614"/>
          <ac:picMkLst>
            <pc:docMk/>
            <pc:sldMk cId="1743520571" sldId="687"/>
            <ac:picMk id="5" creationId="{45C77604-A004-42E7-99F3-8A831746D427}"/>
          </ac:picMkLst>
        </pc:picChg>
        <pc:picChg chg="del">
          <ac:chgData name="Matthew Smith" userId="221d53bf-0a39-49db-b3a3-9148fadfd20a" providerId="ADAL" clId="{05DAD5FE-1342-4742-A051-15A5AC65580D}" dt="2022-06-01T17:28:36.476" v="20" actId="478"/>
          <ac:picMkLst>
            <pc:docMk/>
            <pc:sldMk cId="1743520571" sldId="687"/>
            <ac:picMk id="20" creationId="{1743BBAD-0E88-491E-829D-39E4DB40285C}"/>
          </ac:picMkLst>
        </pc:picChg>
      </pc:sldChg>
      <pc:sldChg chg="addSp modSp mod">
        <pc:chgData name="Matthew Smith" userId="221d53bf-0a39-49db-b3a3-9148fadfd20a" providerId="ADAL" clId="{05DAD5FE-1342-4742-A051-15A5AC65580D}" dt="2022-06-01T17:29:38.447" v="31" actId="1076"/>
        <pc:sldMkLst>
          <pc:docMk/>
          <pc:sldMk cId="1747764901" sldId="688"/>
        </pc:sldMkLst>
        <pc:spChg chg="add mod">
          <ac:chgData name="Matthew Smith" userId="221d53bf-0a39-49db-b3a3-9148fadfd20a" providerId="ADAL" clId="{05DAD5FE-1342-4742-A051-15A5AC65580D}" dt="2022-06-01T17:29:38.447" v="31" actId="1076"/>
          <ac:spMkLst>
            <pc:docMk/>
            <pc:sldMk cId="1747764901" sldId="688"/>
            <ac:spMk id="18" creationId="{56FAD974-17DE-4654-A111-EB4A8BCD9DF4}"/>
          </ac:spMkLst>
        </pc:spChg>
      </pc:sldChg>
      <pc:sldChg chg="del">
        <pc:chgData name="Matthew Smith" userId="221d53bf-0a39-49db-b3a3-9148fadfd20a" providerId="ADAL" clId="{05DAD5FE-1342-4742-A051-15A5AC65580D}" dt="2022-06-01T17:27:09.870" v="0" actId="47"/>
        <pc:sldMkLst>
          <pc:docMk/>
          <pc:sldMk cId="3215210782" sldId="689"/>
        </pc:sldMkLst>
      </pc:sldChg>
      <pc:sldChg chg="addSp modSp mod">
        <pc:chgData name="Matthew Smith" userId="221d53bf-0a39-49db-b3a3-9148fadfd20a" providerId="ADAL" clId="{05DAD5FE-1342-4742-A051-15A5AC65580D}" dt="2022-06-01T17:27:47.021" v="13" actId="164"/>
        <pc:sldMkLst>
          <pc:docMk/>
          <pc:sldMk cId="3808592016" sldId="695"/>
        </pc:sldMkLst>
        <pc:spChg chg="add mod">
          <ac:chgData name="Matthew Smith" userId="221d53bf-0a39-49db-b3a3-9148fadfd20a" providerId="ADAL" clId="{05DAD5FE-1342-4742-A051-15A5AC65580D}" dt="2022-06-01T17:27:47.021" v="13" actId="164"/>
          <ac:spMkLst>
            <pc:docMk/>
            <pc:sldMk cId="3808592016" sldId="695"/>
            <ac:spMk id="2" creationId="{59049007-4483-4D6F-BA54-7F9F1DF34655}"/>
          </ac:spMkLst>
        </pc:spChg>
        <pc:grpChg chg="add mod">
          <ac:chgData name="Matthew Smith" userId="221d53bf-0a39-49db-b3a3-9148fadfd20a" providerId="ADAL" clId="{05DAD5FE-1342-4742-A051-15A5AC65580D}" dt="2022-06-01T17:27:47.021" v="13" actId="164"/>
          <ac:grpSpMkLst>
            <pc:docMk/>
            <pc:sldMk cId="3808592016" sldId="695"/>
            <ac:grpSpMk id="3" creationId="{755274B5-34DF-49A3-90DD-96C5B2B4B5F1}"/>
          </ac:grpSpMkLst>
        </pc:grpChg>
        <pc:picChg chg="mod">
          <ac:chgData name="Matthew Smith" userId="221d53bf-0a39-49db-b3a3-9148fadfd20a" providerId="ADAL" clId="{05DAD5FE-1342-4742-A051-15A5AC65580D}" dt="2022-06-01T17:27:47.021" v="13" actId="164"/>
          <ac:picMkLst>
            <pc:docMk/>
            <pc:sldMk cId="3808592016" sldId="695"/>
            <ac:picMk id="87" creationId="{5F2BC8EC-AD34-4DA7-95F0-094493D61958}"/>
          </ac:picMkLst>
        </pc:picChg>
      </pc:sldChg>
      <pc:sldChg chg="addSp modSp mod">
        <pc:chgData name="Matthew Smith" userId="221d53bf-0a39-49db-b3a3-9148fadfd20a" providerId="ADAL" clId="{05DAD5FE-1342-4742-A051-15A5AC65580D}" dt="2022-06-01T17:27:57.964" v="16" actId="164"/>
        <pc:sldMkLst>
          <pc:docMk/>
          <pc:sldMk cId="647756375" sldId="698"/>
        </pc:sldMkLst>
        <pc:spChg chg="add mod">
          <ac:chgData name="Matthew Smith" userId="221d53bf-0a39-49db-b3a3-9148fadfd20a" providerId="ADAL" clId="{05DAD5FE-1342-4742-A051-15A5AC65580D}" dt="2022-06-01T17:27:57.964" v="16" actId="164"/>
          <ac:spMkLst>
            <pc:docMk/>
            <pc:sldMk cId="647756375" sldId="698"/>
            <ac:spMk id="11" creationId="{FEC612D8-8CCA-4316-8A50-39DC32A626D2}"/>
          </ac:spMkLst>
        </pc:spChg>
        <pc:grpChg chg="add mod">
          <ac:chgData name="Matthew Smith" userId="221d53bf-0a39-49db-b3a3-9148fadfd20a" providerId="ADAL" clId="{05DAD5FE-1342-4742-A051-15A5AC65580D}" dt="2022-06-01T17:27:57.964" v="16" actId="164"/>
          <ac:grpSpMkLst>
            <pc:docMk/>
            <pc:sldMk cId="647756375" sldId="698"/>
            <ac:grpSpMk id="2" creationId="{4733125D-8526-4451-A9F2-47FBE837E092}"/>
          </ac:grpSpMkLst>
        </pc:grpChg>
        <pc:picChg chg="mod">
          <ac:chgData name="Matthew Smith" userId="221d53bf-0a39-49db-b3a3-9148fadfd20a" providerId="ADAL" clId="{05DAD5FE-1342-4742-A051-15A5AC65580D}" dt="2022-06-01T17:27:57.964" v="16" actId="164"/>
          <ac:picMkLst>
            <pc:docMk/>
            <pc:sldMk cId="647756375" sldId="698"/>
            <ac:picMk id="43" creationId="{61496DFF-EEC9-4B8F-80EE-E7634209FCB7}"/>
          </ac:picMkLst>
        </pc:picChg>
      </pc:sldChg>
      <pc:sldMasterChg chg="delSldLayout">
        <pc:chgData name="Matthew Smith" userId="221d53bf-0a39-49db-b3a3-9148fadfd20a" providerId="ADAL" clId="{05DAD5FE-1342-4742-A051-15A5AC65580D}" dt="2022-06-01T17:27:09.870" v="0" actId="47"/>
        <pc:sldMasterMkLst>
          <pc:docMk/>
          <pc:sldMasterMk cId="0" sldId="2147483648"/>
        </pc:sldMasterMkLst>
        <pc:sldLayoutChg chg="del">
          <pc:chgData name="Matthew Smith" userId="221d53bf-0a39-49db-b3a3-9148fadfd20a" providerId="ADAL" clId="{05DAD5FE-1342-4742-A051-15A5AC65580D}" dt="2022-06-01T17:27:09.870" v="0" actId="47"/>
          <pc:sldLayoutMkLst>
            <pc:docMk/>
            <pc:sldMasterMk cId="0" sldId="2147483648"/>
            <pc:sldLayoutMk cId="3698478262" sldId="2147483657"/>
          </pc:sldLayoutMkLst>
        </pc:sldLayoutChg>
      </pc:sldMasterChg>
    </pc:docChg>
  </pc:docChgLst>
  <pc:docChgLst>
    <pc:chgData name="Smith, Matthew (MAJ)" userId="221d53bf-0a39-49db-b3a3-9148fadfd20a" providerId="ADAL" clId="{05DAD5FE-1342-4742-A051-15A5AC65580D}"/>
    <pc:docChg chg="undo custSel addSld delSld modSld">
      <pc:chgData name="Smith, Matthew (MAJ)" userId="221d53bf-0a39-49db-b3a3-9148fadfd20a" providerId="ADAL" clId="{05DAD5FE-1342-4742-A051-15A5AC65580D}" dt="2022-05-25T18:38:04.211" v="19"/>
      <pc:docMkLst>
        <pc:docMk/>
      </pc:docMkLst>
      <pc:sldChg chg="modNotes">
        <pc:chgData name="Smith, Matthew (MAJ)" userId="221d53bf-0a39-49db-b3a3-9148fadfd20a" providerId="ADAL" clId="{05DAD5FE-1342-4742-A051-15A5AC65580D}" dt="2022-05-17T22:46:58.236" v="5" actId="368"/>
        <pc:sldMkLst>
          <pc:docMk/>
          <pc:sldMk cId="300158678" sldId="534"/>
        </pc:sldMkLst>
      </pc:sldChg>
      <pc:sldChg chg="modNotes">
        <pc:chgData name="Smith, Matthew (MAJ)" userId="221d53bf-0a39-49db-b3a3-9148fadfd20a" providerId="ADAL" clId="{05DAD5FE-1342-4742-A051-15A5AC65580D}" dt="2022-05-17T22:46:58.256" v="15" actId="368"/>
        <pc:sldMkLst>
          <pc:docMk/>
          <pc:sldMk cId="3567791586" sldId="538"/>
        </pc:sldMkLst>
      </pc:sldChg>
      <pc:sldChg chg="add del">
        <pc:chgData name="Smith, Matthew (MAJ)" userId="221d53bf-0a39-49db-b3a3-9148fadfd20a" providerId="ADAL" clId="{05DAD5FE-1342-4742-A051-15A5AC65580D}" dt="2022-05-25T18:38:04.211" v="19"/>
        <pc:sldMkLst>
          <pc:docMk/>
          <pc:sldMk cId="2713765701" sldId="683"/>
        </pc:sldMkLst>
      </pc:sldChg>
      <pc:sldChg chg="modNotes">
        <pc:chgData name="Smith, Matthew (MAJ)" userId="221d53bf-0a39-49db-b3a3-9148fadfd20a" providerId="ADAL" clId="{05DAD5FE-1342-4742-A051-15A5AC65580D}" dt="2022-05-17T22:46:58.250" v="13" actId="368"/>
        <pc:sldMkLst>
          <pc:docMk/>
          <pc:sldMk cId="1743520571" sldId="687"/>
        </pc:sldMkLst>
      </pc:sldChg>
      <pc:sldChg chg="modNotes">
        <pc:chgData name="Smith, Matthew (MAJ)" userId="221d53bf-0a39-49db-b3a3-9148fadfd20a" providerId="ADAL" clId="{05DAD5FE-1342-4742-A051-15A5AC65580D}" dt="2022-05-17T22:46:58.230" v="3" actId="368"/>
        <pc:sldMkLst>
          <pc:docMk/>
          <pc:sldMk cId="3215210782" sldId="689"/>
        </pc:sldMkLst>
      </pc:sldChg>
      <pc:sldChg chg="modNotes">
        <pc:chgData name="Smith, Matthew (MAJ)" userId="221d53bf-0a39-49db-b3a3-9148fadfd20a" providerId="ADAL" clId="{05DAD5FE-1342-4742-A051-15A5AC65580D}" dt="2022-05-17T22:46:58.243" v="9" actId="368"/>
        <pc:sldMkLst>
          <pc:docMk/>
          <pc:sldMk cId="3808592016" sldId="695"/>
        </pc:sldMkLst>
      </pc:sldChg>
      <pc:sldChg chg="add del modNotes">
        <pc:chgData name="Smith, Matthew (MAJ)" userId="221d53bf-0a39-49db-b3a3-9148fadfd20a" providerId="ADAL" clId="{05DAD5FE-1342-4742-A051-15A5AC65580D}" dt="2022-05-25T18:38:01.862" v="18" actId="47"/>
        <pc:sldMkLst>
          <pc:docMk/>
          <pc:sldMk cId="3832498102" sldId="696"/>
        </pc:sldMkLst>
      </pc:sldChg>
      <pc:sldChg chg="modNotes">
        <pc:chgData name="Smith, Matthew (MAJ)" userId="221d53bf-0a39-49db-b3a3-9148fadfd20a" providerId="ADAL" clId="{05DAD5FE-1342-4742-A051-15A5AC65580D}" dt="2022-05-17T22:46:58.240" v="7" actId="368"/>
        <pc:sldMkLst>
          <pc:docMk/>
          <pc:sldMk cId="3152211694" sldId="697"/>
        </pc:sldMkLst>
      </pc:sldChg>
      <pc:sldChg chg="modNotes">
        <pc:chgData name="Smith, Matthew (MAJ)" userId="221d53bf-0a39-49db-b3a3-9148fadfd20a" providerId="ADAL" clId="{05DAD5FE-1342-4742-A051-15A5AC65580D}" dt="2022-05-17T22:46:58.247" v="11" actId="368"/>
        <pc:sldMkLst>
          <pc:docMk/>
          <pc:sldMk cId="647756375" sldId="6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912" cy="462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3" tIns="0" rIns="19323" bIns="0" numCol="1" anchor="t" anchorCtr="0" compatLnSpc="1">
            <a:prstTxWarp prst="textNoShape">
              <a:avLst/>
            </a:prstTxWarp>
          </a:bodyPr>
          <a:lstStyle>
            <a:lvl1pPr defTabSz="950913">
              <a:defRPr sz="10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489" y="0"/>
            <a:ext cx="3038912" cy="462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3" tIns="0" rIns="19323" bIns="0" numCol="1" anchor="t" anchorCtr="0" compatLnSpc="1">
            <a:prstTxWarp prst="textNoShape">
              <a:avLst/>
            </a:prstTxWarp>
          </a:bodyPr>
          <a:lstStyle>
            <a:lvl1pPr algn="r" defTabSz="950913">
              <a:defRPr sz="10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4399"/>
            <a:ext cx="3038912" cy="4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3" tIns="0" rIns="19323" bIns="0" numCol="1" anchor="b" anchorCtr="0" compatLnSpc="1">
            <a:prstTxWarp prst="textNoShape">
              <a:avLst/>
            </a:prstTxWarp>
          </a:bodyPr>
          <a:lstStyle>
            <a:lvl1pPr defTabSz="950913">
              <a:defRPr sz="10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489" y="8834399"/>
            <a:ext cx="3038912" cy="4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23" tIns="0" rIns="19323" bIns="0" numCol="1" anchor="b" anchorCtr="0" compatLnSpc="1">
            <a:prstTxWarp prst="textNoShape">
              <a:avLst/>
            </a:prstTxWarp>
          </a:bodyPr>
          <a:lstStyle>
            <a:lvl1pPr algn="r" defTabSz="950913">
              <a:defRPr sz="1000" b="0" i="1"/>
            </a:lvl1pPr>
          </a:lstStyle>
          <a:p>
            <a:fld id="{6A4D290E-7E75-457A-85AA-4812492088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35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63072" y="4967686"/>
            <a:ext cx="6027980" cy="406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13" tIns="137379" rIns="95013" bIns="46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5671819"/>
      </p:ext>
    </p:extLst>
  </p:cSld>
  <p:clrMap bg1="lt1" tx1="dk1" bg2="lt2" tx2="dk2" accent1="accent1" accent2="accent2" accent3="accent3" accent4="accent4" accent5="accent5" accent6="accent6" hlink="hlink" folHlink="folHlink"/>
  <p:notesStyle>
    <a:lvl1pPr indent="227013" algn="l" defTabSz="9382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692150" indent="-230188" algn="l" defTabSz="9382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39825" indent="-230188" algn="l" defTabSz="9382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1788" indent="-212725" algn="l" defTabSz="9382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63750" indent="-230188" algn="l" defTabSz="9382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5700" y="676275"/>
            <a:ext cx="4711700" cy="35337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92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820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4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Font typeface="+mj-lt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067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200150"/>
            <a:ext cx="4324350" cy="3243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3986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31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200150"/>
            <a:ext cx="4324350" cy="3243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3986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42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200150"/>
            <a:ext cx="4324350" cy="3243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3986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5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200150"/>
            <a:ext cx="4324350" cy="3243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39863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3265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286" y="1983979"/>
            <a:ext cx="2461078" cy="24597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402" y="38101"/>
            <a:ext cx="548640" cy="713014"/>
          </a:xfrm>
          <a:prstGeom prst="rect">
            <a:avLst/>
          </a:prstGeom>
          <a:effectLst/>
        </p:spPr>
      </p:pic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8231188" y="6735763"/>
            <a:ext cx="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3829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5613" y="455613"/>
            <a:ext cx="8226425" cy="13716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spcBef>
                <a:spcPct val="50000"/>
              </a:spcBef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298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912813" y="5254625"/>
            <a:ext cx="7313612" cy="1371600"/>
          </a:xfrm>
        </p:spPr>
        <p:txBody>
          <a:bodyPr anchor="ctr" anchorCtr="1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guts_19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 bwMode="auto">
          <a:xfrm>
            <a:off x="142876" y="38101"/>
            <a:ext cx="486724" cy="64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68275" indent="-168275">
              <a:defRPr sz="2000"/>
            </a:lvl1pPr>
            <a:lvl2pPr marL="625475" indent="-168275">
              <a:defRPr sz="1800"/>
            </a:lvl2pPr>
            <a:lvl3pPr marL="1082675" indent="-168275">
              <a:defRPr sz="1600"/>
            </a:lvl3pPr>
            <a:lvl4pPr marL="1539875" indent="-168275">
              <a:defRPr sz="1600"/>
            </a:lvl4pPr>
            <a:lvl5pPr marL="1997075" indent="-168275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60C746-F16B-4C2D-ACE3-D1F409B63782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9C08C6-1765-4A7E-8E22-E5C126275C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  <p:sp>
        <p:nvSpPr>
          <p:cNvPr id="12" name="Rectangle 354"/>
          <p:cNvSpPr>
            <a:spLocks noGrp="1" noChangeArrowheads="1"/>
          </p:cNvSpPr>
          <p:nvPr>
            <p:ph type="title"/>
          </p:nvPr>
        </p:nvSpPr>
        <p:spPr bwMode="auto">
          <a:xfrm>
            <a:off x="767751" y="0"/>
            <a:ext cx="7634376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3FC81B-B477-4EEA-9705-B759FB366A26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8F38DD-2757-486E-9400-72BD0C7559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013" y="912813"/>
            <a:ext cx="4265612" cy="5713412"/>
          </a:xfrm>
        </p:spPr>
        <p:txBody>
          <a:bodyPr/>
          <a:lstStyle>
            <a:lvl1pPr marL="168275" indent="-168275">
              <a:defRPr sz="2000"/>
            </a:lvl1pPr>
            <a:lvl2pPr marL="625475" indent="-168275">
              <a:defRPr sz="1800"/>
            </a:lvl2pPr>
            <a:lvl3pPr marL="1082675" indent="-168275">
              <a:defRPr sz="1600"/>
            </a:lvl3pPr>
            <a:lvl4pPr marL="1539875" indent="-168275">
              <a:defRPr sz="1400"/>
            </a:lvl4pPr>
            <a:lvl5pPr marL="1997075" indent="-168275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912813"/>
            <a:ext cx="4265613" cy="5713412"/>
          </a:xfrm>
        </p:spPr>
        <p:txBody>
          <a:bodyPr/>
          <a:lstStyle>
            <a:lvl1pPr marL="168275" indent="-168275">
              <a:defRPr sz="2000"/>
            </a:lvl1pPr>
            <a:lvl2pPr marL="625475" indent="-168275">
              <a:defRPr sz="1800"/>
            </a:lvl2pPr>
            <a:lvl3pPr marL="1082675" indent="-168275">
              <a:defRPr sz="1600"/>
            </a:lvl3pPr>
            <a:lvl4pPr marL="1539875" indent="-168275">
              <a:defRPr sz="1400"/>
            </a:lvl4pPr>
            <a:lvl5pPr marL="1997075" indent="-168275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2333C3-1E72-4C12-BF4D-B743FA06D6D3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BD5F6C-E170-4904-A296-E7269C2612E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</a:p>
        </p:txBody>
      </p:sp>
      <p:sp>
        <p:nvSpPr>
          <p:cNvPr id="15" name="Rectangle 354"/>
          <p:cNvSpPr>
            <a:spLocks noGrp="1" noChangeArrowheads="1"/>
          </p:cNvSpPr>
          <p:nvPr>
            <p:ph type="title"/>
          </p:nvPr>
        </p:nvSpPr>
        <p:spPr bwMode="auto">
          <a:xfrm>
            <a:off x="767751" y="0"/>
            <a:ext cx="7643004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5794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903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903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A8FB80-C749-4692-A6D5-BACB9579CBCB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0A53F3-CB05-49B6-9940-60F70CB60D6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  <p:sp>
        <p:nvSpPr>
          <p:cNvPr id="16" name="Rectangle 354"/>
          <p:cNvSpPr txBox="1">
            <a:spLocks noChangeArrowheads="1"/>
          </p:cNvSpPr>
          <p:nvPr userDrawn="1"/>
        </p:nvSpPr>
        <p:spPr bwMode="auto">
          <a:xfrm>
            <a:off x="665923" y="0"/>
            <a:ext cx="73152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EBD6-05B5-4B7B-A954-65F49274D68B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44F8AE-18AF-475E-B997-94AAA33A10D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  <p:sp>
        <p:nvSpPr>
          <p:cNvPr id="13" name="Rectangle 354"/>
          <p:cNvSpPr>
            <a:spLocks noGrp="1" noChangeArrowheads="1"/>
          </p:cNvSpPr>
          <p:nvPr>
            <p:ph type="title"/>
          </p:nvPr>
        </p:nvSpPr>
        <p:spPr bwMode="auto">
          <a:xfrm>
            <a:off x="665923" y="0"/>
            <a:ext cx="73152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B6EDC0-DDE7-4CB8-8CED-424FAA77E5FB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9A06A2-FA1E-4C2C-B41B-2B62E371F7E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  <p:sp>
        <p:nvSpPr>
          <p:cNvPr id="11" name="Rectangle 354"/>
          <p:cNvSpPr>
            <a:spLocks noGrp="1" noChangeArrowheads="1"/>
          </p:cNvSpPr>
          <p:nvPr>
            <p:ph type="title"/>
          </p:nvPr>
        </p:nvSpPr>
        <p:spPr bwMode="auto">
          <a:xfrm>
            <a:off x="665923" y="0"/>
            <a:ext cx="73152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2000"/>
            <a:ext cx="5111750" cy="5364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EB70E4-833F-4039-87F0-0A7358855463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C37DC5-6C51-471A-8658-C209E4E7166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8231188" y="6735763"/>
            <a:ext cx="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1227" name="Rectangle 20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6225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800" b="1" kern="1200" smtClean="0">
                <a:solidFill>
                  <a:srgbClr val="96969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fld id="{86B008E2-4FA9-424F-B46A-EDC0082CDF88}" type="datetime1">
              <a:rPr lang="en-US" smtClean="0"/>
              <a:t>6/9/2022</a:t>
            </a:fld>
            <a:endParaRPr lang="en-US" dirty="0"/>
          </a:p>
        </p:txBody>
      </p:sp>
      <p:sp>
        <p:nvSpPr>
          <p:cNvPr id="1228" name="Rectangle 20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72525" y="6626225"/>
            <a:ext cx="365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lang="en-US" sz="800" b="1" kern="1200" smtClean="0">
                <a:solidFill>
                  <a:srgbClr val="96969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fld id="{DB0B52F2-3794-4EBB-96CF-B8C91F3E2C2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50" name="Line 426"/>
          <p:cNvSpPr>
            <a:spLocks noChangeShapeType="1"/>
          </p:cNvSpPr>
          <p:nvPr/>
        </p:nvSpPr>
        <p:spPr bwMode="auto">
          <a:xfrm>
            <a:off x="775250" y="776288"/>
            <a:ext cx="7633253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6" name="Rectangle 4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013" y="912813"/>
            <a:ext cx="8683625" cy="56271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62" name="Rectangle 43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32500" y="6624638"/>
            <a:ext cx="274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lang="en-US" sz="800" b="1" kern="1200" dirty="0">
                <a:solidFill>
                  <a:srgbClr val="96969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r>
              <a:rPr lang="sv-SE" dirty="0"/>
              <a:t>AORS – PC21 In Stride Analysis</a:t>
            </a:r>
            <a:endParaRPr lang="en-US" dirty="0"/>
          </a:p>
        </p:txBody>
      </p:sp>
      <p:sp>
        <p:nvSpPr>
          <p:cNvPr id="12" name="Rectangle 354"/>
          <p:cNvSpPr>
            <a:spLocks noGrp="1" noChangeArrowheads="1"/>
          </p:cNvSpPr>
          <p:nvPr>
            <p:ph type="title"/>
          </p:nvPr>
        </p:nvSpPr>
        <p:spPr bwMode="auto">
          <a:xfrm>
            <a:off x="665923" y="0"/>
            <a:ext cx="73152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 descr="guts_19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 bwMode="auto">
          <a:xfrm>
            <a:off x="142876" y="38101"/>
            <a:ext cx="486724" cy="64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983" y="89686"/>
            <a:ext cx="413843" cy="537831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85" y="309881"/>
            <a:ext cx="503194" cy="502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rgbClr val="000000"/>
        </a:buClr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60"/>
        </a:spcBef>
        <a:spcAft>
          <a:spcPct val="0"/>
        </a:spcAft>
        <a:buClr>
          <a:srgbClr val="000000"/>
        </a:buClr>
        <a:buChar char="–"/>
        <a:defRPr sz="2200" b="1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ts val="60"/>
        </a:spcBef>
        <a:spcAft>
          <a:spcPct val="0"/>
        </a:spcAft>
        <a:buClr>
          <a:srgbClr val="000000"/>
        </a:buClr>
        <a:buChar char="-"/>
        <a:defRPr sz="2000" b="1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–"/>
        <a:defRPr sz="2000">
          <a:solidFill>
            <a:srgbClr val="91919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›"/>
        <a:defRPr sz="2000">
          <a:solidFill>
            <a:srgbClr val="91919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›"/>
        <a:defRPr sz="2000">
          <a:solidFill>
            <a:srgbClr val="91919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›"/>
        <a:defRPr sz="2000">
          <a:solidFill>
            <a:srgbClr val="91919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›"/>
        <a:defRPr sz="2000">
          <a:solidFill>
            <a:srgbClr val="91919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19191"/>
        </a:buClr>
        <a:buSzPct val="100000"/>
        <a:buChar char="›"/>
        <a:defRPr sz="2000">
          <a:solidFill>
            <a:srgbClr val="919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 userDrawn="1">
          <p15:clr>
            <a:srgbClr val="F26B43"/>
          </p15:clr>
        </p15:guide>
        <p15:guide id="2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ybinder.org/v2/gh/mdsmith44/Army_ORSA_Python_Data_Analysis_Tutorial/master" TargetMode="External"/><Relationship Id="rId2" Type="http://schemas.openxmlformats.org/officeDocument/2006/relationships/hyperlink" Target="https://docs.bokeh.org/en/latest/index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gif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61" name="Rectangle 5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In Stride Analysis for </a:t>
            </a:r>
            <a:br>
              <a:rPr lang="en-US" sz="3600" dirty="0"/>
            </a:br>
            <a:r>
              <a:rPr lang="en-US" sz="3600" dirty="0"/>
              <a:t>Project Convergence 21 </a:t>
            </a:r>
          </a:p>
        </p:txBody>
      </p:sp>
      <p:sp>
        <p:nvSpPr>
          <p:cNvPr id="42906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79562" y="5254625"/>
            <a:ext cx="8557403" cy="1371600"/>
          </a:xfrm>
        </p:spPr>
        <p:txBody>
          <a:bodyPr/>
          <a:lstStyle/>
          <a:p>
            <a:r>
              <a:rPr lang="en-US" sz="2800" dirty="0"/>
              <a:t>MORSS 2022</a:t>
            </a:r>
          </a:p>
          <a:p>
            <a:r>
              <a:rPr lang="en-US" sz="2800" dirty="0"/>
              <a:t>MAJ Matt Smith, TRAC Monterey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72525" y="6626225"/>
            <a:ext cx="365125" cy="228600"/>
          </a:xfrm>
        </p:spPr>
        <p:txBody>
          <a:bodyPr/>
          <a:lstStyle/>
          <a:p>
            <a:fld id="{579C08C6-1765-4A7E-8E22-E5C126275C8F}" type="slidenum">
              <a:rPr smtClean="0"/>
              <a:pPr/>
              <a:t>2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70562" y="42532"/>
            <a:ext cx="7613150" cy="712788"/>
          </a:xfrm>
        </p:spPr>
        <p:txBody>
          <a:bodyPr anchor="b"/>
          <a:lstStyle/>
          <a:p>
            <a:r>
              <a:rPr lang="en-US" dirty="0"/>
              <a:t>Project Convergence Overview</a:t>
            </a:r>
            <a:endParaRPr lang="en-US" sz="1600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26754" y="900422"/>
            <a:ext cx="8459106" cy="8160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0" dirty="0">
                <a:solidFill>
                  <a:prstClr val="black"/>
                </a:solidFill>
                <a:latin typeface="+mn-lt"/>
              </a:rPr>
              <a:t>Project Convergence (PC) is an annual Army experiment to test the impact of Artificial Intelligence (AI) and other emerging technologies.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B3316-570F-4DA9-8966-F3BD90F6770E}"/>
              </a:ext>
            </a:extLst>
          </p:cNvPr>
          <p:cNvSpPr txBox="1"/>
          <p:nvPr/>
        </p:nvSpPr>
        <p:spPr>
          <a:xfrm>
            <a:off x="2191608" y="1861604"/>
            <a:ext cx="28814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FF0000"/>
                </a:solidFill>
              </a:rPr>
              <a:t>PC Goals: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Understand impact of AI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Set modernization direction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Inform investment decisions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Build trust in technologies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47E4F-6039-4A6E-BC5E-1CB35FF4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59082-2684-404C-808C-FFB69EC7913F}" type="datetime3">
              <a:rPr lang="en-US" smtClean="0"/>
              <a:t>9 June 2022</a:t>
            </a:fld>
            <a:endParaRPr lang="en-US" dirty="0"/>
          </a:p>
        </p:txBody>
      </p:sp>
      <p:pic>
        <p:nvPicPr>
          <p:cNvPr id="46" name="Picture 45" descr="A group of people using laptops&#10;&#10;Description automatically generated with low confidence">
            <a:extLst>
              <a:ext uri="{FF2B5EF4-FFF2-40B4-BE49-F238E27FC236}">
                <a16:creationId xmlns:a16="http://schemas.microsoft.com/office/drawing/2014/main" id="{10E0C6BF-B4EE-48E1-BCA7-A092BB5ED9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170" y="1909205"/>
            <a:ext cx="802367" cy="58505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B67298D-786B-414E-AE52-DAEE98EEAE6D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pic>
        <p:nvPicPr>
          <p:cNvPr id="42" name="Picture 41" descr="A picture containing outdoor, sky, military vehicle, truck&#10;&#10;Description automatically generated">
            <a:extLst>
              <a:ext uri="{FF2B5EF4-FFF2-40B4-BE49-F238E27FC236}">
                <a16:creationId xmlns:a16="http://schemas.microsoft.com/office/drawing/2014/main" id="{813AD54C-A78D-499B-BC4B-7A5452FAED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244" y="2352462"/>
            <a:ext cx="1066958" cy="600164"/>
          </a:xfrm>
          <a:prstGeom prst="rect">
            <a:avLst/>
          </a:prstGeom>
        </p:spPr>
      </p:pic>
      <p:pic>
        <p:nvPicPr>
          <p:cNvPr id="15" name="Picture 14" descr="A picture containing sky, outdoor, person, military uniform&#10;&#10;Description automatically generated">
            <a:extLst>
              <a:ext uri="{FF2B5EF4-FFF2-40B4-BE49-F238E27FC236}">
                <a16:creationId xmlns:a16="http://schemas.microsoft.com/office/drawing/2014/main" id="{2051DABF-4DD9-462E-A0C7-5A24665220A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2723" y="2715220"/>
            <a:ext cx="697957" cy="72539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51D116-01FD-436C-8474-C1A52C094383}"/>
              </a:ext>
            </a:extLst>
          </p:cNvPr>
          <p:cNvCxnSpPr/>
          <p:nvPr/>
        </p:nvCxnSpPr>
        <p:spPr bwMode="auto">
          <a:xfrm>
            <a:off x="5159039" y="2886111"/>
            <a:ext cx="3253572" cy="0"/>
          </a:xfrm>
          <a:prstGeom prst="straightConnector1">
            <a:avLst/>
          </a:prstGeom>
          <a:solidFill>
            <a:srgbClr val="A953FF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CD0CE6F-4A48-467C-ADFF-4CA9436EF0E4}"/>
              </a:ext>
            </a:extLst>
          </p:cNvPr>
          <p:cNvSpPr/>
          <p:nvPr/>
        </p:nvSpPr>
        <p:spPr bwMode="auto">
          <a:xfrm>
            <a:off x="5159039" y="2812398"/>
            <a:ext cx="154380" cy="147425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B3974CF-CD6F-4AD1-A5FF-613703400587}"/>
              </a:ext>
            </a:extLst>
          </p:cNvPr>
          <p:cNvSpPr/>
          <p:nvPr/>
        </p:nvSpPr>
        <p:spPr bwMode="auto">
          <a:xfrm>
            <a:off x="6138478" y="2822297"/>
            <a:ext cx="154380" cy="147425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299AA6-45EA-4279-8972-82E7F41DC797}"/>
              </a:ext>
            </a:extLst>
          </p:cNvPr>
          <p:cNvSpPr/>
          <p:nvPr/>
        </p:nvSpPr>
        <p:spPr bwMode="auto">
          <a:xfrm>
            <a:off x="7117918" y="2822298"/>
            <a:ext cx="154380" cy="147425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849F98-3168-4A40-9B0E-5522CBC70A88}"/>
              </a:ext>
            </a:extLst>
          </p:cNvPr>
          <p:cNvSpPr txBox="1"/>
          <p:nvPr/>
        </p:nvSpPr>
        <p:spPr>
          <a:xfrm rot="19352910">
            <a:off x="4994704" y="2071627"/>
            <a:ext cx="175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PC20: Army Only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0A5E34-A89C-4207-A684-62B839DA029B}"/>
              </a:ext>
            </a:extLst>
          </p:cNvPr>
          <p:cNvSpPr txBox="1"/>
          <p:nvPr/>
        </p:nvSpPr>
        <p:spPr>
          <a:xfrm rot="19352910">
            <a:off x="6029185" y="2163371"/>
            <a:ext cx="14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PC21: Joint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CEC224-B0BC-4BA4-8667-56EA56FD23C9}"/>
              </a:ext>
            </a:extLst>
          </p:cNvPr>
          <p:cNvSpPr txBox="1"/>
          <p:nvPr/>
        </p:nvSpPr>
        <p:spPr>
          <a:xfrm rot="19352910">
            <a:off x="6951578" y="1992573"/>
            <a:ext cx="213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PC22: Multi-National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65BC09D2-FA8E-41AE-A25E-01FAAD8F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54" y="3586492"/>
            <a:ext cx="8459106" cy="10125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0" dirty="0">
                <a:solidFill>
                  <a:prstClr val="black"/>
                </a:solidFill>
                <a:latin typeface="+mn-lt"/>
              </a:rPr>
              <a:t>PC aims to connect and integrate systems from all Services and allied partners into a single network, a concept known as </a:t>
            </a:r>
            <a:r>
              <a:rPr lang="en-US" sz="2000" i="1" dirty="0">
                <a:solidFill>
                  <a:prstClr val="black"/>
                </a:solidFill>
                <a:latin typeface="+mn-lt"/>
              </a:rPr>
              <a:t>Combined Joint All Domain Command and Control (CJADC2)</a:t>
            </a:r>
            <a:r>
              <a:rPr lang="en-US" sz="2000" b="0" dirty="0">
                <a:solidFill>
                  <a:prstClr val="black"/>
                </a:solidFill>
                <a:latin typeface="+mn-lt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4947E3-3F21-4A98-ADAA-89C1DD93AE87}"/>
              </a:ext>
            </a:extLst>
          </p:cNvPr>
          <p:cNvSpPr txBox="1"/>
          <p:nvPr/>
        </p:nvSpPr>
        <p:spPr>
          <a:xfrm>
            <a:off x="7036800" y="2959420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0" dirty="0"/>
              <a:t>OCT-NOV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4FA2E-9E13-4890-8B8D-66CD2AAA4865}"/>
              </a:ext>
            </a:extLst>
          </p:cNvPr>
          <p:cNvSpPr txBox="1"/>
          <p:nvPr/>
        </p:nvSpPr>
        <p:spPr>
          <a:xfrm>
            <a:off x="6923715" y="5114400"/>
            <a:ext cx="1961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Air Battle Management System</a:t>
            </a:r>
          </a:p>
          <a:p>
            <a:r>
              <a:rPr lang="en-US" sz="1400" b="0" dirty="0"/>
              <a:t>US Air Force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C731776-FCF4-4387-90C1-D4058DE52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9343" y="5047774"/>
            <a:ext cx="822960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4257DF5E-A795-435E-97DD-5AF5D1440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0755" y="5047774"/>
            <a:ext cx="822960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4DE9EAA-E280-40F0-B13E-C26159B4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0562" y="5049456"/>
            <a:ext cx="822960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C6A381E-B3BE-480B-8093-7784C10B4A43}"/>
              </a:ext>
            </a:extLst>
          </p:cNvPr>
          <p:cNvSpPr txBox="1"/>
          <p:nvPr/>
        </p:nvSpPr>
        <p:spPr>
          <a:xfrm>
            <a:off x="4070657" y="5089922"/>
            <a:ext cx="1988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Analytics Platform</a:t>
            </a:r>
          </a:p>
          <a:p>
            <a:r>
              <a:rPr lang="en-US" sz="1400" b="0" dirty="0"/>
              <a:t>US Marine Corps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588760-0739-44DA-A5D0-B6F4A013E403}"/>
              </a:ext>
            </a:extLst>
          </p:cNvPr>
          <p:cNvSpPr txBox="1"/>
          <p:nvPr/>
        </p:nvSpPr>
        <p:spPr>
          <a:xfrm>
            <a:off x="1574741" y="5050975"/>
            <a:ext cx="1564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Project Overmatch</a:t>
            </a:r>
          </a:p>
          <a:p>
            <a:r>
              <a:rPr lang="en-US" sz="1400" b="0" dirty="0"/>
              <a:t>US Navy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752181-0532-456F-8EB5-EF12B68AA6CD}"/>
              </a:ext>
            </a:extLst>
          </p:cNvPr>
          <p:cNvSpPr txBox="1"/>
          <p:nvPr/>
        </p:nvSpPr>
        <p:spPr>
          <a:xfrm>
            <a:off x="662786" y="5953024"/>
            <a:ext cx="825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CJADC2 Impact:</a:t>
            </a:r>
            <a:r>
              <a:rPr lang="en-US" sz="1800" b="0" dirty="0"/>
              <a:t> Enable faster and better decisions on a future battlefield.</a:t>
            </a:r>
            <a:r>
              <a:rPr lang="en-US" sz="1800" dirty="0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C25EBB-EBA4-4D04-88E0-B198E9BDC498}"/>
              </a:ext>
            </a:extLst>
          </p:cNvPr>
          <p:cNvSpPr txBox="1"/>
          <p:nvPr/>
        </p:nvSpPr>
        <p:spPr>
          <a:xfrm>
            <a:off x="3293817" y="469235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i="1" dirty="0"/>
              <a:t>Other CJADC2 Efforts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0C72744-A2A6-4F79-8D13-0C02934D2D67}"/>
              </a:ext>
            </a:extLst>
          </p:cNvPr>
          <p:cNvSpPr txBox="1">
            <a:spLocks/>
          </p:cNvSpPr>
          <p:nvPr/>
        </p:nvSpPr>
        <p:spPr bwMode="auto">
          <a:xfrm>
            <a:off x="6032500" y="6624638"/>
            <a:ext cx="274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29" tIns="45714" rIns="91429" bIns="45714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lang="en-US" sz="800" b="1" kern="1200" smtClean="0">
                <a:solidFill>
                  <a:srgbClr val="969696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sv-SE" dirty="0"/>
              <a:t>MORSS – PC21 In Stride Analysis</a:t>
            </a:r>
          </a:p>
        </p:txBody>
      </p:sp>
    </p:spTree>
    <p:extLst>
      <p:ext uri="{BB962C8B-B14F-4D97-AF65-F5344CB8AC3E}">
        <p14:creationId xmlns:p14="http://schemas.microsoft.com/office/powerpoint/2010/main" val="383249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022D64-0B9E-42B9-B30C-37CE6DA98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 for In-Stride Analysis</a:t>
            </a:r>
            <a:r>
              <a:rPr lang="en-US" b="0" dirty="0"/>
              <a:t>: Develop </a:t>
            </a:r>
            <a:r>
              <a:rPr lang="en-US" b="0" i="1" dirty="0">
                <a:solidFill>
                  <a:srgbClr val="0070C0"/>
                </a:solidFill>
              </a:rPr>
              <a:t>near real-time </a:t>
            </a:r>
            <a:r>
              <a:rPr lang="en-US" b="0" dirty="0"/>
              <a:t>data analysis and visualization tools to track exercise events and provide insights on systems, issues, and operational effectiveness.</a:t>
            </a:r>
          </a:p>
          <a:p>
            <a:r>
              <a:rPr lang="en-US" dirty="0"/>
              <a:t>Potential Objectives and Benefits: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/>
              <a:t>Support daily reports and execution syncs.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/>
              <a:t>Provide preliminary insights on system performance.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/>
              <a:t>Assess progress toward addressing learning demands.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/>
              <a:t>Highlight possible refinements to data collection strategy.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dirty="0"/>
              <a:t>Enable discussion about emerging issues or concerns, helping technicians to make on-the-spot fixes and improve performance in the field.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97F66-1C74-4A17-823C-DF20FAC27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9C08C6-1765-4A7E-8E22-E5C126275C8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CC245D-409A-4249-813D-6FD8D0AE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In-Stride Analysis for PC21</a:t>
            </a:r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C75DF8B7-843F-45D4-A676-3C3C20688D58}"/>
              </a:ext>
            </a:extLst>
          </p:cNvPr>
          <p:cNvSpPr txBox="1">
            <a:spLocks/>
          </p:cNvSpPr>
          <p:nvPr/>
        </p:nvSpPr>
        <p:spPr bwMode="auto">
          <a:xfrm>
            <a:off x="227012" y="5159484"/>
            <a:ext cx="8807658" cy="14667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68275" indent="-168275" algn="l" rtl="0"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5475" indent="-168275" algn="l" rtl="0" eaLnBrk="1" fontAlgn="base" hangingPunct="1">
              <a:lnSpc>
                <a:spcPct val="90000"/>
              </a:lnSpc>
              <a:spcBef>
                <a:spcPts val="60"/>
              </a:spcBef>
              <a:spcAft>
                <a:spcPct val="0"/>
              </a:spcAft>
              <a:buClr>
                <a:srgbClr val="000000"/>
              </a:buClr>
              <a:buChar char="–"/>
              <a:defRPr sz="1800" b="1">
                <a:solidFill>
                  <a:srgbClr val="000000"/>
                </a:solidFill>
                <a:latin typeface="+mn-lt"/>
              </a:defRPr>
            </a:lvl2pPr>
            <a:lvl3pPr marL="1082675" indent="-168275" algn="l" rtl="0" eaLnBrk="1" fontAlgn="base" hangingPunct="1">
              <a:lnSpc>
                <a:spcPct val="90000"/>
              </a:lnSpc>
              <a:spcBef>
                <a:spcPts val="60"/>
              </a:spcBef>
              <a:spcAft>
                <a:spcPct val="0"/>
              </a:spcAft>
              <a:buClr>
                <a:srgbClr val="000000"/>
              </a:buClr>
              <a:buChar char="-"/>
              <a:defRPr sz="1600" b="1">
                <a:solidFill>
                  <a:srgbClr val="000000"/>
                </a:solidFill>
                <a:latin typeface="+mn-lt"/>
              </a:defRPr>
            </a:lvl3pPr>
            <a:lvl4pPr marL="153987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–"/>
              <a:defRPr sz="1600">
                <a:solidFill>
                  <a:srgbClr val="919191"/>
                </a:solidFill>
                <a:latin typeface="+mn-lt"/>
              </a:defRPr>
            </a:lvl4pPr>
            <a:lvl5pPr marL="199707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1600">
                <a:solidFill>
                  <a:srgbClr val="91919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9pPr>
          </a:lstStyle>
          <a:p>
            <a:r>
              <a:rPr lang="en-US" kern="0" dirty="0"/>
              <a:t>Challenges:</a:t>
            </a:r>
          </a:p>
          <a:p>
            <a:pPr lvl="1"/>
            <a:r>
              <a:rPr lang="en-US" sz="1600" b="0" kern="0" dirty="0"/>
              <a:t>Large volumes (TBs) of daily network traffic; took days/weeks to process in PC20.</a:t>
            </a:r>
          </a:p>
          <a:p>
            <a:pPr lvl="1"/>
            <a:r>
              <a:rPr lang="en-US" sz="1600" b="0" kern="0" dirty="0"/>
              <a:t>Many unstructured and non-standardized data formats.</a:t>
            </a:r>
          </a:p>
          <a:p>
            <a:pPr lvl="1"/>
            <a:r>
              <a:rPr lang="en-US" sz="1600" b="0" kern="0" dirty="0"/>
              <a:t>Time sync across systems.</a:t>
            </a:r>
          </a:p>
          <a:p>
            <a:pPr lvl="1"/>
            <a:r>
              <a:rPr lang="en-US" sz="1600" b="0" kern="0" dirty="0"/>
              <a:t>Over 90 stakeholder learning demands and over 100 technologies under evaluation.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4395CE4-20C6-4C39-8F6B-13070D5F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388" y="4154825"/>
            <a:ext cx="4821101" cy="804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4D560-CBCA-48BA-86A4-74C0665CACDC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1C3F54A-7BA3-4CC7-AFA6-D8C47F31A0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DAAF971-4196-49D3-B48A-A2D79725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8F38DD-2757-486E-9400-72BD0C75595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" name="Title 5">
            <a:extLst>
              <a:ext uri="{FF2B5EF4-FFF2-40B4-BE49-F238E27FC236}">
                <a16:creationId xmlns:a16="http://schemas.microsoft.com/office/drawing/2014/main" id="{BE57743C-9C97-4C10-B31D-3AFA3C458E8E}"/>
              </a:ext>
            </a:extLst>
          </p:cNvPr>
          <p:cNvSpPr txBox="1">
            <a:spLocks/>
          </p:cNvSpPr>
          <p:nvPr/>
        </p:nvSpPr>
        <p:spPr>
          <a:xfrm>
            <a:off x="780836" y="17132"/>
            <a:ext cx="7602876" cy="712788"/>
          </a:xfrm>
          <a:prstGeom prst="rect">
            <a:avLst/>
          </a:prstGeom>
        </p:spPr>
        <p:txBody>
          <a:bodyPr anchor="b"/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prstClr val="black"/>
                </a:solidFill>
                <a:latin typeface=" Arial"/>
              </a:rPr>
              <a:t>Project Convergence In Stride Analysis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29E596-39B2-4C3D-8C2D-76AFBF0AAD4E}"/>
              </a:ext>
            </a:extLst>
          </p:cNvPr>
          <p:cNvSpPr txBox="1"/>
          <p:nvPr/>
        </p:nvSpPr>
        <p:spPr>
          <a:xfrm>
            <a:off x="4572000" y="979782"/>
            <a:ext cx="4378789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Stride Analysis Methodology: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Collect – Many TBs per day of network traffic, augmented by manual collection and data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tagging</a:t>
            </a:r>
            <a:r>
              <a:rPr lang="en-US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Process – Use modern tools to reduce raw field data to consumable data product.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Analyze – Aggregate data and extract insights.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Deliver – Deliver key observations and insights via web applications during experiment execution.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endParaRPr lang="en-US" sz="105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600" kern="0" dirty="0">
                <a:latin typeface="Arial" panose="020B0604020202020204" pitchFamily="34" charset="0"/>
                <a:cs typeface="Arial" panose="020B0604020202020204" pitchFamily="34" charset="0"/>
              </a:rPr>
              <a:t>Value for Project Convergence: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Understand system performance.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Identify issues or collection gaps.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Ensure successful execution.</a:t>
            </a: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F634817D-C9CB-441D-9BDC-6133D053A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74" y="5611655"/>
            <a:ext cx="8920799" cy="857824"/>
          </a:xfrm>
          <a:prstGeom prst="rect">
            <a:avLst/>
          </a:prstGeom>
          <a:solidFill>
            <a:srgbClr val="CFDEC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56644" tIns="78322" rIns="156644" bIns="78322" anchor="ctr"/>
          <a:lstStyle/>
          <a:p>
            <a:r>
              <a:rPr lang="en-US" sz="2400" b="0" dirty="0"/>
              <a:t>Enhanced data collection and processing methods enable insights within hours that previously took days or weeks.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36C009-CF6E-4955-94CC-33EDE124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9" y="982194"/>
            <a:ext cx="4369522" cy="429409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0406B4-A8F4-4703-A7AF-7F1CFE2AE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43725" y="66294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sv-SE" dirty="0"/>
              <a:t>MORSS – PC21 In Stride Analysis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401B2AA-B582-47D4-9B74-852EF7AB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1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9C08C6-1765-4A7E-8E22-E5C126275C8F}" type="slidenum">
              <a:rPr smtClean="0"/>
              <a:pPr/>
              <a:t>5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06553" y="0"/>
            <a:ext cx="7315200" cy="760913"/>
          </a:xfrm>
        </p:spPr>
        <p:txBody>
          <a:bodyPr anchor="b"/>
          <a:lstStyle/>
          <a:p>
            <a:r>
              <a:rPr lang="en-US" dirty="0"/>
              <a:t>Timing Analysis “Arrow Charts”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EDD788-CB63-49EA-AE72-7D35876BA2EE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93" name="Text Box 3">
            <a:extLst>
              <a:ext uri="{FF2B5EF4-FFF2-40B4-BE49-F238E27FC236}">
                <a16:creationId xmlns:a16="http://schemas.microsoft.com/office/drawing/2014/main" id="{4F854A4C-01DD-440F-9577-DA5112BB8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53" y="3953238"/>
            <a:ext cx="8475642" cy="10156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en-US" sz="1800" b="0" dirty="0"/>
              <a:t>Arrow Charts yield intuitive and interactive displays of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timing for each Sensor to Shooter Engagement.</a:t>
            </a:r>
            <a:endParaRPr lang="en-US" sz="1800" b="0" dirty="0"/>
          </a:p>
          <a:p>
            <a:endParaRPr lang="en-US" sz="1800" b="0" dirty="0"/>
          </a:p>
        </p:txBody>
      </p:sp>
      <p:sp>
        <p:nvSpPr>
          <p:cNvPr id="95" name="Date Placeholder 3">
            <a:extLst>
              <a:ext uri="{FF2B5EF4-FFF2-40B4-BE49-F238E27FC236}">
                <a16:creationId xmlns:a16="http://schemas.microsoft.com/office/drawing/2014/main" id="{89E02FFD-15B7-49F6-929E-4CC7B245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3772F812-B3C4-4762-9BA0-7EE2D926BA2B}" type="datetime3">
              <a:rPr lang="en-US" smtClean="0"/>
              <a:t>9 June 2022</a:t>
            </a:fld>
            <a:endParaRPr lang="en-US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AACCEFCF-3731-402E-9776-BCCF1813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53" y="1334561"/>
            <a:ext cx="847564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en-US" sz="1800" b="0" dirty="0"/>
              <a:t>PC modifies traditional Detect-Decide-Deliver-Assess (D3A) targeting framework: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9026561-4EFE-4C90-AA7D-0D43BB5225FB}"/>
              </a:ext>
            </a:extLst>
          </p:cNvPr>
          <p:cNvGrpSpPr/>
          <p:nvPr/>
        </p:nvGrpSpPr>
        <p:grpSpPr>
          <a:xfrm>
            <a:off x="842533" y="1879617"/>
            <a:ext cx="7433534" cy="2012325"/>
            <a:chOff x="847386" y="1780551"/>
            <a:chExt cx="7433534" cy="2012325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F4DC218-5E44-4E92-A3AB-8C59E93512EF}"/>
                </a:ext>
              </a:extLst>
            </p:cNvPr>
            <p:cNvGrpSpPr/>
            <p:nvPr/>
          </p:nvGrpSpPr>
          <p:grpSpPr>
            <a:xfrm>
              <a:off x="847386" y="1780551"/>
              <a:ext cx="7433534" cy="2012325"/>
              <a:chOff x="1065008" y="2123754"/>
              <a:chExt cx="7433534" cy="2012325"/>
            </a:xfrm>
          </p:grpSpPr>
          <p:sp>
            <p:nvSpPr>
              <p:cNvPr id="13" name="Freeform 149">
                <a:extLst>
                  <a:ext uri="{FF2B5EF4-FFF2-40B4-BE49-F238E27FC236}">
                    <a16:creationId xmlns:a16="http://schemas.microsoft.com/office/drawing/2014/main" id="{8A079F54-7C71-4326-88A2-6F26E3165D4C}"/>
                  </a:ext>
                </a:extLst>
              </p:cNvPr>
              <p:cNvSpPr/>
              <p:nvPr/>
            </p:nvSpPr>
            <p:spPr>
              <a:xfrm>
                <a:off x="6439459" y="2798339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rgbClr val="EE3112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/>
                  <a:t>Deliver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EEE57E-3AD7-47E8-9100-FCCC05B1947F}"/>
                  </a:ext>
                </a:extLst>
              </p:cNvPr>
              <p:cNvSpPr txBox="1"/>
              <p:nvPr/>
            </p:nvSpPr>
            <p:spPr>
              <a:xfrm>
                <a:off x="6354556" y="3480835"/>
                <a:ext cx="968818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8001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solidFill>
                      <a:prstClr val="black"/>
                    </a:solidFill>
                    <a:latin typeface="Arial"/>
                  </a:rPr>
                  <a:t>Attack target.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935DEF7-B945-445F-8876-42E43DB126F4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 bwMode="auto">
              <a:xfrm flipH="1">
                <a:off x="6661384" y="3225190"/>
                <a:ext cx="3977" cy="251581"/>
              </a:xfrm>
              <a:prstGeom prst="line">
                <a:avLst/>
              </a:prstGeom>
              <a:solidFill>
                <a:srgbClr val="A953FF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" name="Freeform 147">
                <a:extLst>
                  <a:ext uri="{FF2B5EF4-FFF2-40B4-BE49-F238E27FC236}">
                    <a16:creationId xmlns:a16="http://schemas.microsoft.com/office/drawing/2014/main" id="{66154B51-0C83-415F-A2B1-B21B6E06E9FA}"/>
                  </a:ext>
                </a:extLst>
              </p:cNvPr>
              <p:cNvSpPr/>
              <p:nvPr/>
            </p:nvSpPr>
            <p:spPr>
              <a:xfrm>
                <a:off x="4845783" y="2798339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rgbClr val="0066FF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latin typeface="Arial"/>
                    <a:cs typeface="Arial"/>
                  </a:rPr>
                  <a:t>Detect</a:t>
                </a:r>
                <a:endParaRPr lang="en-US" sz="2000" b="0" dirty="0">
                  <a:solidFill>
                    <a:prstClr val="black"/>
                  </a:solidFill>
                  <a:latin typeface="Arial"/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D2DFA51-25A5-48AC-9823-D137465DC23A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 bwMode="auto">
              <a:xfrm>
                <a:off x="5071685" y="3225190"/>
                <a:ext cx="2786" cy="241913"/>
              </a:xfrm>
              <a:prstGeom prst="line">
                <a:avLst/>
              </a:prstGeom>
              <a:solidFill>
                <a:srgbClr val="A953FF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DA045F2-0146-427E-BDB1-6015AE6E2F29}"/>
                  </a:ext>
                </a:extLst>
              </p:cNvPr>
              <p:cNvSpPr/>
              <p:nvPr/>
            </p:nvSpPr>
            <p:spPr bwMode="auto">
              <a:xfrm>
                <a:off x="1065008" y="2123754"/>
                <a:ext cx="7433534" cy="20123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endParaRPr lang="en-US" sz="28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06C504-C699-4E91-A0FF-EB3990D86A59}"/>
                  </a:ext>
                </a:extLst>
              </p:cNvPr>
              <p:cNvSpPr txBox="1"/>
              <p:nvPr/>
            </p:nvSpPr>
            <p:spPr>
              <a:xfrm>
                <a:off x="1778652" y="2847350"/>
                <a:ext cx="2994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/>
                  </a:rPr>
                  <a:t>Project Convergence (PC) Framework:</a:t>
                </a:r>
              </a:p>
            </p:txBody>
          </p:sp>
          <p:sp>
            <p:nvSpPr>
              <p:cNvPr id="22" name="Freeform 148">
                <a:extLst>
                  <a:ext uri="{FF2B5EF4-FFF2-40B4-BE49-F238E27FC236}">
                    <a16:creationId xmlns:a16="http://schemas.microsoft.com/office/drawing/2014/main" id="{6EADBE80-1FD6-49B4-B061-46B479C6B2E1}"/>
                  </a:ext>
                </a:extLst>
              </p:cNvPr>
              <p:cNvSpPr/>
              <p:nvPr/>
            </p:nvSpPr>
            <p:spPr>
              <a:xfrm>
                <a:off x="5661040" y="2800577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/>
                  <a:t>Decide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1021BD0-7515-46D3-B007-438E5E26A313}"/>
                  </a:ext>
                </a:extLst>
              </p:cNvPr>
              <p:cNvCxnSpPr>
                <a:cxnSpLocks/>
                <a:stCxn id="61" idx="0"/>
                <a:endCxn id="22" idx="3"/>
              </p:cNvCxnSpPr>
              <p:nvPr/>
            </p:nvCxnSpPr>
            <p:spPr bwMode="auto">
              <a:xfrm flipV="1">
                <a:off x="5885220" y="3227428"/>
                <a:ext cx="1722" cy="261555"/>
              </a:xfrm>
              <a:prstGeom prst="line">
                <a:avLst/>
              </a:prstGeom>
              <a:solidFill>
                <a:srgbClr val="A953FF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6482509-BF40-4CA9-BDE9-8A65ED8C0E6A}"/>
                  </a:ext>
                </a:extLst>
              </p:cNvPr>
              <p:cNvCxnSpPr>
                <a:stCxn id="16" idx="2"/>
                <a:endCxn id="22" idx="0"/>
              </p:cNvCxnSpPr>
              <p:nvPr/>
            </p:nvCxnSpPr>
            <p:spPr bwMode="auto">
              <a:xfrm>
                <a:off x="5297586" y="3011765"/>
                <a:ext cx="363454" cy="2238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AEE1E8E-3289-4794-834A-DB330D08EFE5}"/>
                  </a:ext>
                </a:extLst>
              </p:cNvPr>
              <p:cNvCxnSpPr>
                <a:stCxn id="22" idx="2"/>
                <a:endCxn id="13" idx="0"/>
              </p:cNvCxnSpPr>
              <p:nvPr/>
            </p:nvCxnSpPr>
            <p:spPr bwMode="auto">
              <a:xfrm flipV="1">
                <a:off x="6112843" y="3011765"/>
                <a:ext cx="326616" cy="2238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03A6C19-1BA9-4E32-8EDB-25C5C26D6730}"/>
                  </a:ext>
                </a:extLst>
              </p:cNvPr>
              <p:cNvCxnSpPr>
                <a:stCxn id="13" idx="2"/>
                <a:endCxn id="28" idx="0"/>
              </p:cNvCxnSpPr>
              <p:nvPr/>
            </p:nvCxnSpPr>
            <p:spPr bwMode="auto">
              <a:xfrm>
                <a:off x="6891262" y="3011765"/>
                <a:ext cx="285866" cy="0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8" name="Freeform 193">
                <a:extLst>
                  <a:ext uri="{FF2B5EF4-FFF2-40B4-BE49-F238E27FC236}">
                    <a16:creationId xmlns:a16="http://schemas.microsoft.com/office/drawing/2014/main" id="{FBF06F9E-A868-4C48-BD9C-7A6EC45D5F14}"/>
                  </a:ext>
                </a:extLst>
              </p:cNvPr>
              <p:cNvSpPr/>
              <p:nvPr/>
            </p:nvSpPr>
            <p:spPr>
              <a:xfrm>
                <a:off x="7177128" y="2798339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latin typeface="Arial"/>
                    <a:cs typeface="Arial"/>
                  </a:rPr>
                  <a:t>Assess</a:t>
                </a:r>
                <a:endParaRPr lang="en-US" sz="2000" b="0" dirty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9" name="TextBox 136">
                <a:extLst>
                  <a:ext uri="{FF2B5EF4-FFF2-40B4-BE49-F238E27FC236}">
                    <a16:creationId xmlns:a16="http://schemas.microsoft.com/office/drawing/2014/main" id="{FC508FB7-8759-4D1D-8262-90C18EE6FBEF}"/>
                  </a:ext>
                </a:extLst>
              </p:cNvPr>
              <p:cNvSpPr txBox="1"/>
              <p:nvPr/>
            </p:nvSpPr>
            <p:spPr>
              <a:xfrm>
                <a:off x="7349239" y="3467103"/>
                <a:ext cx="106656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8001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solidFill>
                      <a:prstClr val="black"/>
                    </a:solidFill>
                    <a:latin typeface="Arial"/>
                  </a:rPr>
                  <a:t>Perform BDA.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C5DAD42-AF42-4190-A8F6-C17B2D77384E}"/>
                  </a:ext>
                </a:extLst>
              </p:cNvPr>
              <p:cNvSpPr/>
              <p:nvPr/>
            </p:nvSpPr>
            <p:spPr>
              <a:xfrm>
                <a:off x="1091699" y="3612549"/>
                <a:ext cx="2434421" cy="523529"/>
              </a:xfrm>
              <a:prstGeom prst="rect">
                <a:avLst/>
              </a:prstGeom>
            </p:spPr>
            <p:txBody>
              <a:bodyPr numCol="1">
                <a:noAutofit/>
              </a:bodyPr>
              <a:lstStyle/>
              <a:p>
                <a:r>
                  <a:rPr lang="en-US" sz="900" b="0" i="1" dirty="0"/>
                  <a:t>ATP – Army Training Publication</a:t>
                </a:r>
              </a:p>
              <a:p>
                <a:r>
                  <a:rPr lang="en-US" sz="900" b="0" i="1" dirty="0"/>
                  <a:t>CFF – Call For Fire</a:t>
                </a:r>
              </a:p>
              <a:p>
                <a:r>
                  <a:rPr lang="en-US" sz="900" b="0" i="1" dirty="0"/>
                  <a:t>BDA – Battle Damage Assessment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6C590E6-FD7A-459C-9A9E-B6CEC229BF7A}"/>
                  </a:ext>
                </a:extLst>
              </p:cNvPr>
              <p:cNvSpPr txBox="1"/>
              <p:nvPr/>
            </p:nvSpPr>
            <p:spPr>
              <a:xfrm>
                <a:off x="1170765" y="2296064"/>
                <a:ext cx="36073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/>
                  </a:rPr>
                  <a:t>Traditional Army Targeting Process (ATP 3-60):</a:t>
                </a:r>
              </a:p>
            </p:txBody>
          </p:sp>
          <p:sp>
            <p:nvSpPr>
              <p:cNvPr id="34" name="Freeform 149">
                <a:extLst>
                  <a:ext uri="{FF2B5EF4-FFF2-40B4-BE49-F238E27FC236}">
                    <a16:creationId xmlns:a16="http://schemas.microsoft.com/office/drawing/2014/main" id="{EF824441-5A4B-4BD7-BAB3-272077C61406}"/>
                  </a:ext>
                </a:extLst>
              </p:cNvPr>
              <p:cNvSpPr/>
              <p:nvPr/>
            </p:nvSpPr>
            <p:spPr>
              <a:xfrm>
                <a:off x="6441398" y="2240158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rgbClr val="EE3112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/>
                  <a:t>Deliver</a:t>
                </a:r>
              </a:p>
            </p:txBody>
          </p:sp>
          <p:sp>
            <p:nvSpPr>
              <p:cNvPr id="35" name="Freeform 147">
                <a:extLst>
                  <a:ext uri="{FF2B5EF4-FFF2-40B4-BE49-F238E27FC236}">
                    <a16:creationId xmlns:a16="http://schemas.microsoft.com/office/drawing/2014/main" id="{481A95F1-5BC7-4998-B914-E94F75B1BC1E}"/>
                  </a:ext>
                </a:extLst>
              </p:cNvPr>
              <p:cNvSpPr/>
              <p:nvPr/>
            </p:nvSpPr>
            <p:spPr>
              <a:xfrm>
                <a:off x="5655576" y="2240158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rgbClr val="0066FF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latin typeface="Arial"/>
                    <a:cs typeface="Arial"/>
                  </a:rPr>
                  <a:t>Detect</a:t>
                </a:r>
                <a:endParaRPr lang="en-US" sz="2000" b="0" dirty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36" name="Freeform 148">
                <a:extLst>
                  <a:ext uri="{FF2B5EF4-FFF2-40B4-BE49-F238E27FC236}">
                    <a16:creationId xmlns:a16="http://schemas.microsoft.com/office/drawing/2014/main" id="{9069D252-04A8-4807-9987-750F9C5304AF}"/>
                  </a:ext>
                </a:extLst>
              </p:cNvPr>
              <p:cNvSpPr/>
              <p:nvPr/>
            </p:nvSpPr>
            <p:spPr>
              <a:xfrm>
                <a:off x="4845783" y="2231219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/>
                  <a:t>Decide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172DE45-C54D-40B1-B1D2-FC009898FD6F}"/>
                  </a:ext>
                </a:extLst>
              </p:cNvPr>
              <p:cNvCxnSpPr>
                <a:cxnSpLocks/>
                <a:stCxn id="36" idx="2"/>
                <a:endCxn id="35" idx="0"/>
              </p:cNvCxnSpPr>
              <p:nvPr/>
            </p:nvCxnSpPr>
            <p:spPr bwMode="auto">
              <a:xfrm>
                <a:off x="5297586" y="2444645"/>
                <a:ext cx="357990" cy="8939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FD1E327-6D3F-470F-B513-83749F32BA07}"/>
                  </a:ext>
                </a:extLst>
              </p:cNvPr>
              <p:cNvCxnSpPr>
                <a:cxnSpLocks/>
                <a:stCxn id="35" idx="2"/>
                <a:endCxn id="34" idx="0"/>
              </p:cNvCxnSpPr>
              <p:nvPr/>
            </p:nvCxnSpPr>
            <p:spPr bwMode="auto">
              <a:xfrm>
                <a:off x="6107379" y="2453584"/>
                <a:ext cx="334019" cy="0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017D975-BCE7-41A3-86C4-24E4EB20D32A}"/>
                  </a:ext>
                </a:extLst>
              </p:cNvPr>
              <p:cNvCxnSpPr>
                <a:stCxn id="34" idx="2"/>
                <a:endCxn id="40" idx="0"/>
              </p:cNvCxnSpPr>
              <p:nvPr/>
            </p:nvCxnSpPr>
            <p:spPr bwMode="auto">
              <a:xfrm>
                <a:off x="6893201" y="2453584"/>
                <a:ext cx="285866" cy="0"/>
              </a:xfrm>
              <a:prstGeom prst="straightConnector1">
                <a:avLst/>
              </a:prstGeom>
              <a:solidFill>
                <a:srgbClr val="A953FF"/>
              </a:solidFill>
              <a:ln w="28575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40" name="Freeform 193">
                <a:extLst>
                  <a:ext uri="{FF2B5EF4-FFF2-40B4-BE49-F238E27FC236}">
                    <a16:creationId xmlns:a16="http://schemas.microsoft.com/office/drawing/2014/main" id="{A908B188-11F0-4A88-B300-F7E5C2B519AE}"/>
                  </a:ext>
                </a:extLst>
              </p:cNvPr>
              <p:cNvSpPr/>
              <p:nvPr/>
            </p:nvSpPr>
            <p:spPr>
              <a:xfrm>
                <a:off x="7179067" y="2240158"/>
                <a:ext cx="451803" cy="426851"/>
              </a:xfrm>
              <a:custGeom>
                <a:avLst/>
                <a:gdLst>
                  <a:gd name="connsiteX0" fmla="*/ 0 w 1280153"/>
                  <a:gd name="connsiteY0" fmla="*/ 640077 h 1280153"/>
                  <a:gd name="connsiteX1" fmla="*/ 640077 w 1280153"/>
                  <a:gd name="connsiteY1" fmla="*/ 0 h 1280153"/>
                  <a:gd name="connsiteX2" fmla="*/ 1280154 w 1280153"/>
                  <a:gd name="connsiteY2" fmla="*/ 640077 h 1280153"/>
                  <a:gd name="connsiteX3" fmla="*/ 640077 w 1280153"/>
                  <a:gd name="connsiteY3" fmla="*/ 1280154 h 1280153"/>
                  <a:gd name="connsiteX4" fmla="*/ 0 w 1280153"/>
                  <a:gd name="connsiteY4" fmla="*/ 640077 h 128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153" h="1280153">
                    <a:moveTo>
                      <a:pt x="0" y="640077"/>
                    </a:moveTo>
                    <a:cubicBezTo>
                      <a:pt x="0" y="286572"/>
                      <a:pt x="286572" y="0"/>
                      <a:pt x="640077" y="0"/>
                    </a:cubicBezTo>
                    <a:cubicBezTo>
                      <a:pt x="993582" y="0"/>
                      <a:pt x="1280154" y="286572"/>
                      <a:pt x="1280154" y="640077"/>
                    </a:cubicBezTo>
                    <a:cubicBezTo>
                      <a:pt x="1280154" y="993582"/>
                      <a:pt x="993582" y="1280154"/>
                      <a:pt x="640077" y="1280154"/>
                    </a:cubicBezTo>
                    <a:cubicBezTo>
                      <a:pt x="286572" y="1280154"/>
                      <a:pt x="0" y="993582"/>
                      <a:pt x="0" y="640077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latin typeface="Arial"/>
                    <a:cs typeface="Arial"/>
                  </a:rPr>
                  <a:t>Assess</a:t>
                </a:r>
                <a:endParaRPr lang="en-US" sz="2000" b="0" dirty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91C413E-5C39-4CC0-8168-960B62E97A5E}"/>
                  </a:ext>
                </a:extLst>
              </p:cNvPr>
              <p:cNvSpPr txBox="1"/>
              <p:nvPr/>
            </p:nvSpPr>
            <p:spPr>
              <a:xfrm>
                <a:off x="3552811" y="3476771"/>
                <a:ext cx="1532397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80010" algn="r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solidFill>
                      <a:prstClr val="black"/>
                    </a:solidFill>
                    <a:latin typeface="Arial"/>
                  </a:rPr>
                  <a:t>Receive and disseminate target info.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0EEE4FD-FEC6-4384-BD0C-4001D257D1A0}"/>
                  </a:ext>
                </a:extLst>
              </p:cNvPr>
              <p:cNvSpPr txBox="1"/>
              <p:nvPr/>
            </p:nvSpPr>
            <p:spPr>
              <a:xfrm>
                <a:off x="5303917" y="3488983"/>
                <a:ext cx="1162606" cy="4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80010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solidFill>
                      <a:prstClr val="black"/>
                    </a:solidFill>
                    <a:latin typeface="Arial"/>
                  </a:rPr>
                  <a:t>Generate CFF.</a:t>
                </a:r>
              </a:p>
              <a:p>
                <a:pPr marL="80010" eaLnBrk="1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dirty="0">
                    <a:solidFill>
                      <a:prstClr val="black"/>
                    </a:solidFill>
                    <a:latin typeface="Arial"/>
                  </a:rPr>
                  <a:t>Process fire order.</a:t>
                </a:r>
              </a:p>
            </p:txBody>
          </p: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9A84E6C-9BB4-4318-854F-F46389E40F8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187175" y="2876217"/>
              <a:ext cx="3977" cy="251581"/>
            </a:xfrm>
            <a:prstGeom prst="line">
              <a:avLst/>
            </a:prstGeom>
            <a:solidFill>
              <a:srgbClr val="A953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6" name="Content Placeholder 8">
            <a:extLst>
              <a:ext uri="{FF2B5EF4-FFF2-40B4-BE49-F238E27FC236}">
                <a16:creationId xmlns:a16="http://schemas.microsoft.com/office/drawing/2014/main" id="{47F3DBC2-832E-48AC-AC0F-E6AF7180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322" y="4660865"/>
            <a:ext cx="3702925" cy="176556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Value:</a:t>
            </a:r>
          </a:p>
          <a:p>
            <a:pPr marL="457200" lvl="1" indent="-259715"/>
            <a:r>
              <a:rPr lang="en-US" sz="1500" b="0" dirty="0"/>
              <a:t>Understand how AI speeds up tactical decision making.</a:t>
            </a:r>
          </a:p>
          <a:p>
            <a:pPr marL="457200" lvl="1" indent="-259715"/>
            <a:r>
              <a:rPr lang="en-US" sz="1500" b="0" dirty="0"/>
              <a:t>Evaluate impact of DDIL environment.</a:t>
            </a:r>
          </a:p>
          <a:p>
            <a:pPr marL="457200" lvl="1" indent="-259715"/>
            <a:r>
              <a:rPr lang="en-US" sz="1500" b="0" dirty="0"/>
              <a:t>Identify exercise trends or issues.</a:t>
            </a:r>
          </a:p>
          <a:p>
            <a:pPr marL="457200" lvl="1" indent="-259715"/>
            <a:r>
              <a:rPr lang="en-US" sz="1500" b="0" dirty="0"/>
              <a:t>Available within 1 hour of PC events.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647ADB-AC94-4BFE-BFAF-BE4DBE107C6C}"/>
              </a:ext>
            </a:extLst>
          </p:cNvPr>
          <p:cNvSpPr txBox="1"/>
          <p:nvPr/>
        </p:nvSpPr>
        <p:spPr>
          <a:xfrm>
            <a:off x="636171" y="6287930"/>
            <a:ext cx="4711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DDIL = Denied, Disrupted, Intermittent, and Limited-Bandwidth.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6FA751-1CDD-4951-8EA5-07CAD6C9930E}"/>
              </a:ext>
            </a:extLst>
          </p:cNvPr>
          <p:cNvSpPr txBox="1"/>
          <p:nvPr/>
        </p:nvSpPr>
        <p:spPr>
          <a:xfrm>
            <a:off x="602585" y="4597186"/>
            <a:ext cx="74647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solidFill>
                  <a:srgbClr val="000000"/>
                </a:solidFill>
                <a:effectLst/>
                <a:latin typeface="+mn-lt"/>
              </a:rPr>
              <a:t>Use Case 4-2: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/>
                <a:ea typeface="+mn-ea"/>
                <a:cs typeface="+mn-cs"/>
              </a:rPr>
              <a:t>AI-Enabled Air Assault </a:t>
            </a:r>
          </a:p>
        </p:txBody>
      </p:sp>
      <p:sp>
        <p:nvSpPr>
          <p:cNvPr id="42" name="Text Box 3">
            <a:extLst>
              <a:ext uri="{FF2B5EF4-FFF2-40B4-BE49-F238E27FC236}">
                <a16:creationId xmlns:a16="http://schemas.microsoft.com/office/drawing/2014/main" id="{CEBC0F59-D6D3-4067-82ED-BDC9A755D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871069"/>
            <a:ext cx="8686800" cy="477054"/>
          </a:xfrm>
          <a:prstGeom prst="rect">
            <a:avLst/>
          </a:prstGeom>
          <a:solidFill>
            <a:srgbClr val="B6CCA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How well do AI and other technologies speed up tactical decision making?</a:t>
            </a:r>
          </a:p>
        </p:txBody>
      </p:sp>
      <p:sp>
        <p:nvSpPr>
          <p:cNvPr id="43" name="Footer Placeholder 2">
            <a:extLst>
              <a:ext uri="{FF2B5EF4-FFF2-40B4-BE49-F238E27FC236}">
                <a16:creationId xmlns:a16="http://schemas.microsoft.com/office/drawing/2014/main" id="{E7F32E7A-38A3-4327-9ECF-7CB95DBB37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5274B5-34DF-49A3-90DD-96C5B2B4B5F1}"/>
              </a:ext>
            </a:extLst>
          </p:cNvPr>
          <p:cNvGrpSpPr/>
          <p:nvPr/>
        </p:nvGrpSpPr>
        <p:grpSpPr>
          <a:xfrm>
            <a:off x="101777" y="4835369"/>
            <a:ext cx="5212545" cy="1433878"/>
            <a:chOff x="101777" y="4835369"/>
            <a:chExt cx="5212545" cy="1433878"/>
          </a:xfrm>
        </p:grpSpPr>
        <p:pic>
          <p:nvPicPr>
            <p:cNvPr id="87" name="Picture 86" descr="Timeline&#10;&#10;Description automatically generated">
              <a:extLst>
                <a:ext uri="{FF2B5EF4-FFF2-40B4-BE49-F238E27FC236}">
                  <a16:creationId xmlns:a16="http://schemas.microsoft.com/office/drawing/2014/main" id="{5F2BC8EC-AD34-4DA7-95F0-094493D61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2585" y="4885174"/>
              <a:ext cx="4711737" cy="138407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049007-4483-4D6F-BA54-7F9F1DF34655}"/>
                </a:ext>
              </a:extLst>
            </p:cNvPr>
            <p:cNvSpPr txBox="1"/>
            <p:nvPr/>
          </p:nvSpPr>
          <p:spPr>
            <a:xfrm>
              <a:off x="101777" y="4835369"/>
              <a:ext cx="17908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NOTIONAL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859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9C08C6-1765-4A7E-8E22-E5C126275C8F}" type="slidenum">
              <a:rPr smtClean="0"/>
              <a:pPr/>
              <a:t>6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06553" y="0"/>
            <a:ext cx="7315200" cy="760913"/>
          </a:xfrm>
        </p:spPr>
        <p:txBody>
          <a:bodyPr anchor="b"/>
          <a:lstStyle/>
          <a:p>
            <a:r>
              <a:rPr lang="en-US" dirty="0"/>
              <a:t>Execution Checklist Tracker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EDD788-CB63-49EA-AE72-7D35876BA2EE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95" name="Date Placeholder 3">
            <a:extLst>
              <a:ext uri="{FF2B5EF4-FFF2-40B4-BE49-F238E27FC236}">
                <a16:creationId xmlns:a16="http://schemas.microsoft.com/office/drawing/2014/main" id="{89E02FFD-15B7-49F6-929E-4CC7B245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3772F812-B3C4-4762-9BA0-7EE2D926BA2B}" type="datetime3">
              <a:rPr lang="en-US" smtClean="0"/>
              <a:t>9 June 2022</a:t>
            </a:fld>
            <a:endParaRPr lang="en-US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AACCEFCF-3731-402E-9776-BCCF1813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53" y="1334561"/>
            <a:ext cx="8475642" cy="1292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PC, as with most warfighting experiments, uses an Execution Checklist (</a:t>
            </a:r>
            <a:r>
              <a:rPr lang="en-US" sz="1800" b="0" dirty="0" err="1"/>
              <a:t>ExCheck</a:t>
            </a:r>
            <a:r>
              <a:rPr lang="en-US" sz="1800" b="0" dirty="0"/>
              <a:t>) to plan and execute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Collection of timestamps for </a:t>
            </a:r>
            <a:r>
              <a:rPr lang="en-US" sz="1800" b="0" dirty="0" err="1"/>
              <a:t>ExCheck</a:t>
            </a:r>
            <a:r>
              <a:rPr lang="en-US" sz="1800" b="0" dirty="0"/>
              <a:t> steps enables richer analysis of use case execution.  </a:t>
            </a:r>
          </a:p>
        </p:txBody>
      </p:sp>
      <p:sp>
        <p:nvSpPr>
          <p:cNvPr id="86" name="Content Placeholder 8">
            <a:extLst>
              <a:ext uri="{FF2B5EF4-FFF2-40B4-BE49-F238E27FC236}">
                <a16:creationId xmlns:a16="http://schemas.microsoft.com/office/drawing/2014/main" id="{47F3DBC2-832E-48AC-AC0F-E6AF7180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0" y="3429000"/>
            <a:ext cx="2899789" cy="239373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Value:</a:t>
            </a:r>
          </a:p>
          <a:p>
            <a:pPr marL="457200" lvl="1" indent="-259715"/>
            <a:r>
              <a:rPr lang="en-US" sz="1500" b="0" dirty="0"/>
              <a:t>Highlight issues or gaps in execution or collection.</a:t>
            </a:r>
          </a:p>
          <a:p>
            <a:pPr marL="457200" lvl="1" indent="-259715"/>
            <a:r>
              <a:rPr lang="en-US" sz="1500" b="0" dirty="0"/>
              <a:t>View trends within and between use case runs.</a:t>
            </a:r>
          </a:p>
          <a:p>
            <a:pPr marL="457200" lvl="1" indent="-259715"/>
            <a:r>
              <a:rPr lang="en-US" sz="1500" b="0" dirty="0"/>
              <a:t>Available within 1 hour of PC events.</a:t>
            </a:r>
          </a:p>
        </p:txBody>
      </p:sp>
      <p:sp>
        <p:nvSpPr>
          <p:cNvPr id="42" name="Text Box 3">
            <a:extLst>
              <a:ext uri="{FF2B5EF4-FFF2-40B4-BE49-F238E27FC236}">
                <a16:creationId xmlns:a16="http://schemas.microsoft.com/office/drawing/2014/main" id="{CEBC0F59-D6D3-4067-82ED-BDC9A755D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871069"/>
            <a:ext cx="8686800" cy="477054"/>
          </a:xfrm>
          <a:prstGeom prst="rect">
            <a:avLst/>
          </a:prstGeom>
          <a:solidFill>
            <a:srgbClr val="B6CCA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How well were the daily PC use cases executed compared to the plan?</a:t>
            </a:r>
          </a:p>
        </p:txBody>
      </p:sp>
      <p:sp>
        <p:nvSpPr>
          <p:cNvPr id="44" name="Footer Placeholder 2">
            <a:extLst>
              <a:ext uri="{FF2B5EF4-FFF2-40B4-BE49-F238E27FC236}">
                <a16:creationId xmlns:a16="http://schemas.microsoft.com/office/drawing/2014/main" id="{34E76A11-794C-47B3-AB89-D8011DE3E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33125D-8526-4451-A9F2-47FBE837E092}"/>
              </a:ext>
            </a:extLst>
          </p:cNvPr>
          <p:cNvGrpSpPr/>
          <p:nvPr/>
        </p:nvGrpSpPr>
        <p:grpSpPr>
          <a:xfrm>
            <a:off x="215900" y="2644255"/>
            <a:ext cx="5943600" cy="3961765"/>
            <a:chOff x="215900" y="2644255"/>
            <a:chExt cx="5943600" cy="396176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1496DFF-EEC9-4B8F-80EE-E7634209FCB7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900" y="2644255"/>
              <a:ext cx="5943600" cy="396176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C612D8-8CCA-4316-8A50-39DC32A626D2}"/>
                </a:ext>
              </a:extLst>
            </p:cNvPr>
            <p:cNvSpPr txBox="1"/>
            <p:nvPr/>
          </p:nvSpPr>
          <p:spPr>
            <a:xfrm>
              <a:off x="4241625" y="5756098"/>
              <a:ext cx="17908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NOTIONAL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756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9C08C6-1765-4A7E-8E22-E5C126275C8F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06553" y="0"/>
            <a:ext cx="7315200" cy="760913"/>
          </a:xfrm>
        </p:spPr>
        <p:txBody>
          <a:bodyPr anchor="b"/>
          <a:lstStyle/>
          <a:p>
            <a:r>
              <a:rPr lang="en-US" dirty="0"/>
              <a:t>Network Criticality Graphics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28600" y="871069"/>
            <a:ext cx="8686800" cy="886397"/>
          </a:xfrm>
          <a:prstGeom prst="rect">
            <a:avLst/>
          </a:prstGeom>
          <a:solidFill>
            <a:srgbClr val="B6CCA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Network centrality graphics give indication of each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node’s criticality in terms of enabling data flow across the network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2F5825DB-4196-4929-B52A-C724C33EC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CFD941-2A60-4675-AAA0-E6B4D51709BE}"/>
              </a:ext>
            </a:extLst>
          </p:cNvPr>
          <p:cNvSpPr txBox="1">
            <a:spLocks/>
          </p:cNvSpPr>
          <p:nvPr/>
        </p:nvSpPr>
        <p:spPr bwMode="auto">
          <a:xfrm>
            <a:off x="5917411" y="1913241"/>
            <a:ext cx="3220239" cy="43025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68275" indent="-168275" algn="l" rtl="0"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5475" indent="-168275" algn="l" rtl="0" eaLnBrk="1" fontAlgn="base" hangingPunct="1">
              <a:lnSpc>
                <a:spcPct val="90000"/>
              </a:lnSpc>
              <a:spcBef>
                <a:spcPts val="60"/>
              </a:spcBef>
              <a:spcAft>
                <a:spcPct val="0"/>
              </a:spcAft>
              <a:buClr>
                <a:srgbClr val="000000"/>
              </a:buClr>
              <a:buChar char="–"/>
              <a:defRPr sz="1800" b="1">
                <a:solidFill>
                  <a:srgbClr val="000000"/>
                </a:solidFill>
                <a:latin typeface="+mn-lt"/>
              </a:defRPr>
            </a:lvl2pPr>
            <a:lvl3pPr marL="1082675" indent="-168275" algn="l" rtl="0" eaLnBrk="1" fontAlgn="base" hangingPunct="1">
              <a:lnSpc>
                <a:spcPct val="90000"/>
              </a:lnSpc>
              <a:spcBef>
                <a:spcPts val="60"/>
              </a:spcBef>
              <a:spcAft>
                <a:spcPct val="0"/>
              </a:spcAft>
              <a:buClr>
                <a:srgbClr val="000000"/>
              </a:buClr>
              <a:buChar char="-"/>
              <a:defRPr sz="1600" b="1">
                <a:solidFill>
                  <a:srgbClr val="000000"/>
                </a:solidFill>
                <a:latin typeface="+mn-lt"/>
              </a:defRPr>
            </a:lvl3pPr>
            <a:lvl4pPr marL="153987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–"/>
              <a:defRPr sz="1600">
                <a:solidFill>
                  <a:srgbClr val="919191"/>
                </a:solidFill>
                <a:latin typeface="+mn-lt"/>
              </a:defRPr>
            </a:lvl4pPr>
            <a:lvl5pPr marL="199707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1600">
                <a:solidFill>
                  <a:srgbClr val="91919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19191"/>
              </a:buClr>
              <a:buSzPct val="100000"/>
              <a:buChar char="›"/>
              <a:defRPr sz="2000">
                <a:solidFill>
                  <a:srgbClr val="919191"/>
                </a:solidFill>
                <a:latin typeface="+mn-lt"/>
              </a:defRPr>
            </a:lvl9pPr>
          </a:lstStyle>
          <a:p>
            <a:r>
              <a:rPr lang="en-US" b="0" kern="0" dirty="0"/>
              <a:t>Graphic measures two aspects of node criticality:</a:t>
            </a:r>
          </a:p>
          <a:p>
            <a:pPr marL="365760" lvl="1"/>
            <a:r>
              <a:rPr lang="en-US" b="0" kern="0" dirty="0"/>
              <a:t>Node Size = number of messages.</a:t>
            </a:r>
          </a:p>
          <a:p>
            <a:pPr marL="365760" lvl="1"/>
            <a:r>
              <a:rPr lang="en-US" b="0" kern="0" dirty="0"/>
              <a:t>Node Color = </a:t>
            </a:r>
            <a:r>
              <a:rPr lang="en-US" b="0" i="1" kern="0" dirty="0"/>
              <a:t>network betweenness centrality</a:t>
            </a:r>
            <a:r>
              <a:rPr lang="en-US" i="1" kern="0" dirty="0"/>
              <a:t>.</a:t>
            </a:r>
            <a:endParaRPr lang="en-US" b="0" kern="0" dirty="0"/>
          </a:p>
          <a:p>
            <a:pPr marL="365760" lvl="1"/>
            <a:endParaRPr lang="en-US" b="0" kern="0" dirty="0"/>
          </a:p>
          <a:p>
            <a:pPr marL="0" indent="-259715"/>
            <a:r>
              <a:rPr lang="en-US" b="0" kern="0" dirty="0"/>
              <a:t>Value:</a:t>
            </a:r>
          </a:p>
          <a:p>
            <a:pPr marL="457200" lvl="1" indent="-259715"/>
            <a:r>
              <a:rPr lang="en-US" b="0" kern="0" dirty="0"/>
              <a:t>Understand network health and performance.</a:t>
            </a:r>
          </a:p>
          <a:p>
            <a:pPr marL="457200" lvl="1" indent="-259715"/>
            <a:r>
              <a:rPr lang="en-US" b="0" kern="0" dirty="0"/>
              <a:t>Identify critical nodes in AI-enabled battlefield.</a:t>
            </a:r>
          </a:p>
          <a:p>
            <a:pPr marL="457200" lvl="1" indent="-259715"/>
            <a:r>
              <a:rPr lang="en-US" b="0" kern="0" dirty="0"/>
              <a:t>Understand impact of AI/ML on network bandwidth.</a:t>
            </a:r>
          </a:p>
          <a:p>
            <a:pPr marL="197485" lvl="1" indent="0">
              <a:buFontTx/>
              <a:buNone/>
            </a:pPr>
            <a:endParaRPr lang="en-US" sz="2400" b="0" kern="0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6CAB0F6-46D1-4C48-8438-3AD3B8A7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  <p:pic>
        <p:nvPicPr>
          <p:cNvPr id="5" name="Picture 4" descr="Chart, radar chart&#10;&#10;Description automatically generated">
            <a:extLst>
              <a:ext uri="{FF2B5EF4-FFF2-40B4-BE49-F238E27FC236}">
                <a16:creationId xmlns:a16="http://schemas.microsoft.com/office/drawing/2014/main" id="{45C77604-A004-42E7-99F3-8A831746D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8" y="1976985"/>
            <a:ext cx="5802340" cy="36022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A8D354-68C4-462F-9BEA-C581787AF490}"/>
              </a:ext>
            </a:extLst>
          </p:cNvPr>
          <p:cNvSpPr txBox="1"/>
          <p:nvPr/>
        </p:nvSpPr>
        <p:spPr>
          <a:xfrm>
            <a:off x="2773278" y="5153162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NOTIONAL</a:t>
            </a:r>
          </a:p>
        </p:txBody>
      </p:sp>
    </p:spTree>
    <p:extLst>
      <p:ext uri="{BB962C8B-B14F-4D97-AF65-F5344CB8AC3E}">
        <p14:creationId xmlns:p14="http://schemas.microsoft.com/office/powerpoint/2010/main" val="174352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9C08C6-1765-4A7E-8E22-E5C126275C8F}" type="slidenum">
              <a:rPr smtClean="0"/>
              <a:pPr/>
              <a:t>8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06553" y="0"/>
            <a:ext cx="7315200" cy="760913"/>
          </a:xfrm>
        </p:spPr>
        <p:txBody>
          <a:bodyPr/>
          <a:lstStyle/>
          <a:p>
            <a:r>
              <a:rPr lang="en-US" dirty="0"/>
              <a:t>Network Criticality Graphics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28600" y="871069"/>
            <a:ext cx="8686800" cy="886397"/>
          </a:xfrm>
          <a:prstGeom prst="rect">
            <a:avLst/>
          </a:prstGeom>
          <a:solidFill>
            <a:srgbClr val="B6CCA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91440" rIns="91440" bIns="91440" anchor="t">
            <a:spAutoFit/>
          </a:bodyPr>
          <a:lstStyle/>
          <a:p>
            <a:pPr eaLnBrk="0" fontAlgn="base" hangingPunct="0">
              <a:lnSpc>
                <a:spcPct val="95000"/>
              </a:lnSpc>
              <a:spcBef>
                <a:spcPts val="600"/>
              </a:spcBef>
              <a:defRPr/>
            </a:pPr>
            <a:r>
              <a:rPr lang="en-US" b="0" dirty="0">
                <a:cs typeface="Arial"/>
              </a:rPr>
              <a:t>Interactive web-based graphics enable deeper inspection into variety of node and network metrics.</a:t>
            </a:r>
            <a:endParaRPr lang="en-US" b="0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E08799-7572-4469-866A-B117CD65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45" y="2036306"/>
            <a:ext cx="2918359" cy="2263508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4D50D4A1-E502-480B-AC2E-54B48B0379CD}"/>
              </a:ext>
            </a:extLst>
          </p:cNvPr>
          <p:cNvSpPr/>
          <p:nvPr/>
        </p:nvSpPr>
        <p:spPr bwMode="auto">
          <a:xfrm>
            <a:off x="6508468" y="5414953"/>
            <a:ext cx="358736" cy="24014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A1E08E-96EF-46E4-9C96-DC322B84DD51}"/>
              </a:ext>
            </a:extLst>
          </p:cNvPr>
          <p:cNvSpPr txBox="1"/>
          <p:nvPr/>
        </p:nvSpPr>
        <p:spPr>
          <a:xfrm>
            <a:off x="468604" y="4424765"/>
            <a:ext cx="3161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Highlight node and its connections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553C3F-76AF-4943-92E8-1E53BB12F048}"/>
              </a:ext>
            </a:extLst>
          </p:cNvPr>
          <p:cNvSpPr txBox="1"/>
          <p:nvPr/>
        </p:nvSpPr>
        <p:spPr>
          <a:xfrm>
            <a:off x="5194029" y="4424765"/>
            <a:ext cx="2987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 err="1"/>
              <a:t>Lable</a:t>
            </a:r>
            <a:r>
              <a:rPr lang="en-US" sz="1400" u="sng" dirty="0"/>
              <a:t> nodes by Name, IP, or URN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24774-85BB-441B-B192-80B60A02F327}"/>
              </a:ext>
            </a:extLst>
          </p:cNvPr>
          <p:cNvSpPr txBox="1"/>
          <p:nvPr/>
        </p:nvSpPr>
        <p:spPr>
          <a:xfrm>
            <a:off x="468604" y="1728524"/>
            <a:ext cx="2795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View alternate network layouts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F165D-DA1E-4D77-BB32-C7141D19E95B}"/>
              </a:ext>
            </a:extLst>
          </p:cNvPr>
          <p:cNvSpPr txBox="1"/>
          <p:nvPr/>
        </p:nvSpPr>
        <p:spPr>
          <a:xfrm>
            <a:off x="4942681" y="1728524"/>
            <a:ext cx="3549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u="sng" dirty="0"/>
              <a:t>View amount of traffic along each edge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9F2D55-14E0-4F6B-AB63-79EBEC46E1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08" b="3226"/>
          <a:stretch/>
        </p:blipFill>
        <p:spPr>
          <a:xfrm>
            <a:off x="4500179" y="4738548"/>
            <a:ext cx="1865692" cy="15493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7F7771-49F0-4C2A-9A45-5CE58E0A1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893" y="4738548"/>
            <a:ext cx="1741632" cy="1592956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D956455E-E241-477C-8E70-7F3FC34E46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11" y="2063837"/>
            <a:ext cx="2686076" cy="2014557"/>
          </a:xfrm>
          <a:prstGeom prst="rect">
            <a:avLst/>
          </a:prstGeom>
        </p:spPr>
      </p:pic>
      <p:pic>
        <p:nvPicPr>
          <p:cNvPr id="13" name="Picture 12" descr="A picture containing text, watch&#10;&#10;Description automatically generated">
            <a:extLst>
              <a:ext uri="{FF2B5EF4-FFF2-40B4-BE49-F238E27FC236}">
                <a16:creationId xmlns:a16="http://schemas.microsoft.com/office/drawing/2014/main" id="{77345F2C-A753-4EC7-8383-3AD976BF6A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54" y="4764659"/>
            <a:ext cx="2515444" cy="1923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DD788-CB63-49EA-AE72-7D35876BA2EE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AB20EDB-9F63-48CB-B6CD-1B4E7EBA7F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A26B1CB3-163F-45BD-876D-1D925EE0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AD974-17DE-4654-A111-EB4A8BCD9DF4}"/>
              </a:ext>
            </a:extLst>
          </p:cNvPr>
          <p:cNvSpPr txBox="1"/>
          <p:nvPr/>
        </p:nvSpPr>
        <p:spPr>
          <a:xfrm>
            <a:off x="5810677" y="6161386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NOTIONAL</a:t>
            </a:r>
          </a:p>
        </p:txBody>
      </p:sp>
    </p:spTree>
    <p:extLst>
      <p:ext uri="{BB962C8B-B14F-4D97-AF65-F5344CB8AC3E}">
        <p14:creationId xmlns:p14="http://schemas.microsoft.com/office/powerpoint/2010/main" val="174776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8F38DD-2757-486E-9400-72BD0C75595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7089F1-41B7-431E-B4B3-D5CE1C9040CA}"/>
              </a:ext>
            </a:extLst>
          </p:cNvPr>
          <p:cNvSpPr txBox="1"/>
          <p:nvPr/>
        </p:nvSpPr>
        <p:spPr>
          <a:xfrm>
            <a:off x="567254" y="5542502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View task and phase completion times for each Sensor to Shooter Engagement through Detect-Decide-Deliver-Assess phases.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2BDDF3-7AEE-4E06-8D06-6DF80374BECB}"/>
              </a:ext>
            </a:extLst>
          </p:cNvPr>
          <p:cNvSpPr txBox="1"/>
          <p:nvPr/>
        </p:nvSpPr>
        <p:spPr>
          <a:xfrm>
            <a:off x="3417504" y="5542502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View topology of tactical network and identify nodes most critical to enabling data flow across the network.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1FC668-930D-4E18-BD3E-A4EEBA180B02}"/>
              </a:ext>
            </a:extLst>
          </p:cNvPr>
          <p:cNvSpPr txBox="1"/>
          <p:nvPr/>
        </p:nvSpPr>
        <p:spPr>
          <a:xfrm>
            <a:off x="6267754" y="5542503"/>
            <a:ext cx="2446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Illustrate the issues and pain points for each use cases, and view trends within and between the use case runs.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3D8B3-E9A1-491A-9EA1-DD8BE4C534CC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8EF7C5-8F2C-4D96-B08F-89CFD028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Stride Analysis Dashboards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F9009267-822B-4CAC-80CA-AFDBB8B56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62" y="899998"/>
            <a:ext cx="8683625" cy="2809974"/>
          </a:xfrm>
        </p:spPr>
        <p:txBody>
          <a:bodyPr/>
          <a:lstStyle/>
          <a:p>
            <a:r>
              <a:rPr lang="en-US" sz="1800" b="0" dirty="0"/>
              <a:t>Interactive web applications provide powerful means to share analytic results with community of interest.</a:t>
            </a:r>
          </a:p>
          <a:p>
            <a:r>
              <a:rPr lang="en-US" sz="1800" b="0" dirty="0"/>
              <a:t>Web applications hosted on Project Convergence </a:t>
            </a:r>
            <a:r>
              <a:rPr lang="en-US" sz="1800" b="0" dirty="0" err="1"/>
              <a:t>Intelshare</a:t>
            </a:r>
            <a:r>
              <a:rPr lang="en-US" sz="1800" b="0" dirty="0"/>
              <a:t> sites:</a:t>
            </a:r>
          </a:p>
          <a:p>
            <a:pPr lvl="1"/>
            <a:r>
              <a:rPr lang="en-US" sz="1600" b="0" dirty="0"/>
              <a:t>NIPR Dashboard: https://intelshare.intelink.gov/sites/projectconvergence  → Click “In Stride Dashboard”</a:t>
            </a:r>
          </a:p>
          <a:p>
            <a:pPr lvl="1"/>
            <a:r>
              <a:rPr lang="en-US" sz="1600" b="0" dirty="0"/>
              <a:t>SIPR Dashboard: https://intelshare.intelink.sgov.gov/sites/ProjectConvergence → Click “In Stride Dashboard”</a:t>
            </a: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Majority of interactive dashboards built with python bokeh library.  See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bokeh documentation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for helpful references, or see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Army ORSA python data analysis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tutorial for python tutorial covering python basics and bokeh visualizations.  </a:t>
            </a:r>
            <a:endParaRPr lang="en-US" sz="1800" b="0" dirty="0"/>
          </a:p>
          <a:p>
            <a:endParaRPr lang="en-US" sz="1800" b="0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FAE60B8-6E3A-453D-AAE3-2FAEDEB1C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2392328B-5981-43C7-84A6-0060DA6BC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2" y="3858699"/>
            <a:ext cx="2945925" cy="1396587"/>
          </a:xfrm>
          <a:prstGeom prst="rect">
            <a:avLst/>
          </a:prstGeom>
        </p:spPr>
      </p:pic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id="{720ADF7D-70E3-409C-9D40-4CA9AE153A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435" y="3858699"/>
            <a:ext cx="1887635" cy="1442438"/>
          </a:xfrm>
          <a:prstGeom prst="rect">
            <a:avLst/>
          </a:prstGeom>
        </p:spPr>
      </p:pic>
      <p:pic>
        <p:nvPicPr>
          <p:cNvPr id="3" name="Picture 2" descr="Chart, histogram, waterfall chart&#10;&#10;Description automatically generated">
            <a:extLst>
              <a:ext uri="{FF2B5EF4-FFF2-40B4-BE49-F238E27FC236}">
                <a16:creationId xmlns:a16="http://schemas.microsoft.com/office/drawing/2014/main" id="{EFE2CFE2-6B4D-400C-B9B9-4335ADA6BC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54" y="3842474"/>
            <a:ext cx="2446338" cy="1630892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3510A85-1AA6-40BA-833E-D3F04AE7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8F56D-9AB5-4755-9DB5-49B385B615AF}"/>
              </a:ext>
            </a:extLst>
          </p:cNvPr>
          <p:cNvSpPr txBox="1"/>
          <p:nvPr/>
        </p:nvSpPr>
        <p:spPr>
          <a:xfrm>
            <a:off x="1549225" y="524500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NOTIONAL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2E0F9-18E7-499E-8A6B-D78B84A34021}"/>
              </a:ext>
            </a:extLst>
          </p:cNvPr>
          <p:cNvSpPr txBox="1"/>
          <p:nvPr/>
        </p:nvSpPr>
        <p:spPr>
          <a:xfrm>
            <a:off x="4028842" y="525528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NOTIONAL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D8B838-73BE-40F8-8E09-179B77D2BFAB}"/>
              </a:ext>
            </a:extLst>
          </p:cNvPr>
          <p:cNvSpPr txBox="1"/>
          <p:nvPr/>
        </p:nvSpPr>
        <p:spPr>
          <a:xfrm>
            <a:off x="6980040" y="5363394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NOTIONAL</a:t>
            </a:r>
          </a:p>
        </p:txBody>
      </p:sp>
    </p:spTree>
    <p:extLst>
      <p:ext uri="{BB962C8B-B14F-4D97-AF65-F5344CB8AC3E}">
        <p14:creationId xmlns:p14="http://schemas.microsoft.com/office/powerpoint/2010/main" val="2476920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72525" y="6626225"/>
            <a:ext cx="365125" cy="228600"/>
          </a:xfrm>
        </p:spPr>
        <p:txBody>
          <a:bodyPr/>
          <a:lstStyle/>
          <a:p>
            <a:fld id="{579C08C6-1765-4A7E-8E22-E5C126275C8F}" type="slidenum">
              <a:rPr smtClean="0"/>
              <a:pPr/>
              <a:t>10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0287" y="42532"/>
            <a:ext cx="7643973" cy="712788"/>
          </a:xfrm>
        </p:spPr>
        <p:txBody>
          <a:bodyPr/>
          <a:lstStyle/>
          <a:p>
            <a:r>
              <a:rPr lang="en-US" sz="2400" dirty="0"/>
              <a:t>Summary</a:t>
            </a:r>
            <a:endParaRPr lang="en-US" sz="1200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7F9F899B-0473-4AB2-A57A-CE5D232B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75" y="975245"/>
            <a:ext cx="8683625" cy="3176342"/>
          </a:xfrm>
        </p:spPr>
        <p:txBody>
          <a:bodyPr/>
          <a:lstStyle/>
          <a:p>
            <a:r>
              <a:rPr lang="en-US" b="0" dirty="0"/>
              <a:t>Enhanced data collection and analysis methodologies allow </a:t>
            </a:r>
            <a:r>
              <a:rPr lang="en-US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key observations and operational insights within hours rather than days during PC21.</a:t>
            </a:r>
          </a:p>
          <a:p>
            <a:r>
              <a:rPr lang="en-US" b="0" dirty="0"/>
              <a:t>In stride analysis products are tailored to deliver the types of insights needed to ensure successful execution of the warfighting experiment. </a:t>
            </a:r>
          </a:p>
          <a:p>
            <a:r>
              <a:rPr lang="en-US" b="0" dirty="0"/>
              <a:t>Interactive python-built web applications created provide flexible and powerful means of communicating results to key stakeholders.</a:t>
            </a:r>
          </a:p>
          <a:p>
            <a:pPr marL="0" indent="0">
              <a:buNone/>
            </a:pPr>
            <a:endParaRPr lang="en-US" b="0" dirty="0"/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POC: MAJ Matt Smith, TRAC-Monterey, </a:t>
            </a:r>
            <a:r>
              <a:rPr lang="en-US" sz="1800" b="0" kern="1200" dirty="0">
                <a:latin typeface="Arial" charset="0"/>
              </a:rPr>
              <a:t>matthew.d.smith255.mil@army.mil</a:t>
            </a:r>
            <a:endParaRPr lang="en-US" sz="180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D8F95-AA3F-40B4-AC6A-21AD07920F4D}"/>
              </a:ext>
            </a:extLst>
          </p:cNvPr>
          <p:cNvSpPr txBox="1"/>
          <p:nvPr/>
        </p:nvSpPr>
        <p:spPr>
          <a:xfrm>
            <a:off x="126753" y="0"/>
            <a:ext cx="878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B6CCA8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UNCLASSIFIED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0032E95-BC4A-45A3-9E14-D7BF7B5E90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2500" y="6624638"/>
            <a:ext cx="2741613" cy="228600"/>
          </a:xfrm>
        </p:spPr>
        <p:txBody>
          <a:bodyPr/>
          <a:lstStyle/>
          <a:p>
            <a:r>
              <a:rPr lang="sv-SE" dirty="0"/>
              <a:t>MORSS – PC21 In Stride Analysis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4CE96-0A24-4679-9049-9EADB886A54C}"/>
              </a:ext>
            </a:extLst>
          </p:cNvPr>
          <p:cNvSpPr/>
          <p:nvPr/>
        </p:nvSpPr>
        <p:spPr bwMode="auto">
          <a:xfrm>
            <a:off x="3628427" y="4402703"/>
            <a:ext cx="1970468" cy="759216"/>
          </a:xfrm>
          <a:prstGeom prst="rect">
            <a:avLst/>
          </a:prstGeom>
          <a:solidFill>
            <a:srgbClr val="A0C0A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7626" tIns="23813" rIns="47626" bIns="23813" numCol="1" rtlCol="0" anchor="ctr" anchorCtr="0" compatLnSpc="1">
            <a:prstTxWarp prst="textNoShape">
              <a:avLst/>
            </a:prstTxWarp>
          </a:bodyPr>
          <a:lstStyle/>
          <a:p>
            <a:pPr algn="ctr" defTabSz="476220"/>
            <a:r>
              <a:rPr lang="en-US" sz="1200" dirty="0"/>
              <a:t>Admin Support</a:t>
            </a:r>
          </a:p>
          <a:p>
            <a:pPr algn="ctr" defTabSz="476220"/>
            <a:r>
              <a:rPr lang="en-US" sz="1200" b="0" dirty="0"/>
              <a:t>Ms. Sandra Lackey</a:t>
            </a:r>
          </a:p>
          <a:p>
            <a:pPr algn="ctr" defTabSz="476220"/>
            <a:r>
              <a:rPr lang="en-US" sz="1200" b="0" dirty="0"/>
              <a:t>sdlackey@nps.edu</a:t>
            </a:r>
          </a:p>
          <a:p>
            <a:pPr algn="ctr" defTabSz="476220"/>
            <a:r>
              <a:rPr lang="en-US" sz="1200" b="0" dirty="0"/>
              <a:t>(831) 656-3086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EE5DB-6E57-406A-A5E3-3482DCC34BF6}"/>
              </a:ext>
            </a:extLst>
          </p:cNvPr>
          <p:cNvSpPr/>
          <p:nvPr/>
        </p:nvSpPr>
        <p:spPr bwMode="auto">
          <a:xfrm>
            <a:off x="5697940" y="4409331"/>
            <a:ext cx="1970468" cy="759216"/>
          </a:xfrm>
          <a:prstGeom prst="rect">
            <a:avLst/>
          </a:prstGeom>
          <a:solidFill>
            <a:srgbClr val="A0C0A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7626" tIns="23813" rIns="47626" bIns="23813" numCol="1" rtlCol="0" anchor="ctr" anchorCtr="0" compatLnSpc="1">
            <a:prstTxWarp prst="textNoShape">
              <a:avLst/>
            </a:prstTxWarp>
          </a:bodyPr>
          <a:lstStyle/>
          <a:p>
            <a:pPr algn="ctr" defTabSz="476220"/>
            <a:r>
              <a:rPr lang="en-US" sz="1200" dirty="0"/>
              <a:t>Mil. Personnel S1</a:t>
            </a:r>
          </a:p>
          <a:p>
            <a:pPr algn="ctr" defTabSz="476220"/>
            <a:r>
              <a:rPr lang="en-US" sz="1200" b="0" dirty="0"/>
              <a:t>MAJ Candice Farney</a:t>
            </a:r>
          </a:p>
          <a:p>
            <a:pPr algn="ctr" defTabSz="476220"/>
            <a:r>
              <a:rPr lang="en-US" sz="1200" b="0" dirty="0"/>
              <a:t>Candice.Farney@nps.edu</a:t>
            </a:r>
          </a:p>
          <a:p>
            <a:pPr algn="ctr" defTabSz="476220"/>
            <a:r>
              <a:rPr lang="en-US" sz="1200" b="0" dirty="0"/>
              <a:t>(831) 656-7575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DDD96A-6D88-4EC4-A8B4-FEC60F2D1DDC}"/>
              </a:ext>
            </a:extLst>
          </p:cNvPr>
          <p:cNvSpPr/>
          <p:nvPr/>
        </p:nvSpPr>
        <p:spPr bwMode="auto">
          <a:xfrm>
            <a:off x="1567586" y="4406016"/>
            <a:ext cx="1970466" cy="759217"/>
          </a:xfrm>
          <a:prstGeom prst="rect">
            <a:avLst/>
          </a:prstGeom>
          <a:solidFill>
            <a:srgbClr val="A0C0A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7626" tIns="23813" rIns="47626" bIns="23813" numCol="1" rtlCol="0" anchor="ctr" anchorCtr="0" compatLnSpc="1">
            <a:prstTxWarp prst="textNoShape">
              <a:avLst/>
            </a:prstTxWarp>
          </a:bodyPr>
          <a:lstStyle/>
          <a:p>
            <a:pPr algn="ctr" defTabSz="476220"/>
            <a:r>
              <a:rPr lang="en-US" sz="1200" dirty="0"/>
              <a:t>Director</a:t>
            </a:r>
          </a:p>
          <a:p>
            <a:pPr algn="ctr" defTabSz="476220"/>
            <a:r>
              <a:rPr lang="en-US" sz="1200" b="0" dirty="0"/>
              <a:t>LTC Brian Wade</a:t>
            </a:r>
          </a:p>
          <a:p>
            <a:pPr algn="ctr" defTabSz="476220"/>
            <a:r>
              <a:rPr lang="en-US" sz="1200" b="0" dirty="0"/>
              <a:t>brian.wade@nps.edu</a:t>
            </a:r>
          </a:p>
          <a:p>
            <a:pPr algn="ctr" defTabSz="476220"/>
            <a:r>
              <a:rPr lang="en-US" sz="1200" b="0" dirty="0"/>
              <a:t>(831) 656-3086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7F618D-844C-4C75-BF78-85A586A91B62}"/>
              </a:ext>
            </a:extLst>
          </p:cNvPr>
          <p:cNvSpPr txBox="1"/>
          <p:nvPr/>
        </p:nvSpPr>
        <p:spPr>
          <a:xfrm>
            <a:off x="0" y="4025193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Contact us at: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847AF1-F67A-487C-BC73-0B9E49262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746" y="5207503"/>
            <a:ext cx="1604155" cy="1608915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B3C46AF-DA5F-4D91-A83A-A91692E6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6225"/>
            <a:ext cx="1828800" cy="228600"/>
          </a:xfrm>
        </p:spPr>
        <p:txBody>
          <a:bodyPr/>
          <a:lstStyle/>
          <a:p>
            <a:fld id="{F0188BA7-03A8-443D-8703-09C3E79442E6}" type="datetime3">
              <a:rPr lang="en-US" smtClean="0"/>
              <a:t>9 June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91586"/>
      </p:ext>
    </p:extLst>
  </p:cSld>
  <p:clrMapOvr>
    <a:masterClrMapping/>
  </p:clrMapOvr>
</p:sld>
</file>

<file path=ppt/theme/theme1.xml><?xml version="1.0" encoding="utf-8"?>
<a:theme xmlns:a="http://schemas.openxmlformats.org/drawingml/2006/main" name="TRAC Powerpoint Briefing Template">
  <a:themeElements>
    <a:clrScheme name="TRAC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EB379"/>
      </a:accent1>
      <a:accent2>
        <a:srgbClr val="B6CCA8"/>
      </a:accent2>
      <a:accent3>
        <a:srgbClr val="E4D798"/>
      </a:accent3>
      <a:accent4>
        <a:srgbClr val="ECE2B2"/>
      </a:accent4>
      <a:accent5>
        <a:srgbClr val="9933E1"/>
      </a:accent5>
      <a:accent6>
        <a:srgbClr val="C993FF"/>
      </a:accent6>
      <a:hlink>
        <a:srgbClr val="0000FF"/>
      </a:hlink>
      <a:folHlink>
        <a:srgbClr val="800080"/>
      </a:folHlink>
    </a:clrScheme>
    <a:fontScheme name="trac-jp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953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953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rac-jpg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c-jp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c-jpg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c-jpg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c-jpg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c-jpg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c-jpg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90424 TRAC PowerPoint Template" id="{BD01A12E-F645-4E73-A171-81DD1746DD23}" vid="{E0BA202C-DEAA-4498-A545-B04ADAD2B14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TRAC_x0020_Documents xmlns="125f8d25-9f48-43f7-9ae3-a500bb145d00">true</TRAC_x0020_Documents>
    <Doc_x0020_Type xmlns="125f8d25-9f48-43f7-9ae3-a500bb145d00">Document Standards</Doc_x0020_Type>
    <Date_x0020_of_x0020_Document xmlns="125f8d25-9f48-43f7-9ae3-a500bb145d00">2019-04-23T05:00:00+00:00</Date_x0020_of_x0020_Docum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4DD429E8BDF648AE437A5733BD8FAA" ma:contentTypeVersion="10" ma:contentTypeDescription="Create a new document." ma:contentTypeScope="" ma:versionID="5504db19d108914bb5a54783a20f939b">
  <xsd:schema xmlns:xsd="http://www.w3.org/2001/XMLSchema" xmlns:xs="http://www.w3.org/2001/XMLSchema" xmlns:p="http://schemas.microsoft.com/office/2006/metadata/properties" xmlns:ns2="125f8d25-9f48-43f7-9ae3-a500bb145d00" targetNamespace="http://schemas.microsoft.com/office/2006/metadata/properties" ma:root="true" ma:fieldsID="0ce7d1ac6085c744fb4a77d07199682c" ns2:_="">
    <xsd:import namespace="125f8d25-9f48-43f7-9ae3-a500bb145d00"/>
    <xsd:element name="properties">
      <xsd:complexType>
        <xsd:sequence>
          <xsd:element name="documentManagement">
            <xsd:complexType>
              <xsd:all>
                <xsd:element ref="ns2:Doc_x0020_Type" minOccurs="0"/>
                <xsd:element ref="ns2:Date_x0020_of_x0020_Document" minOccurs="0"/>
                <xsd:element ref="ns2:TRAC_x0020_Docume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f8d25-9f48-43f7-9ae3-a500bb145d00" elementFormDefault="qualified">
    <xsd:import namespace="http://schemas.microsoft.com/office/2006/documentManagement/types"/>
    <xsd:import namespace="http://schemas.microsoft.com/office/infopath/2007/PartnerControls"/>
    <xsd:element name="Doc_x0020_Type" ma:index="8" nillable="true" ma:displayName="Document Type" ma:default="Unassigned" ma:format="Dropdown" ma:internalName="Doc_x0020_Type">
      <xsd:simpleType>
        <xsd:restriction base="dms:Choice">
          <xsd:enumeration value="Annual Mandatory Training"/>
          <xsd:enumeration value="BOD Reading Material"/>
          <xsd:enumeration value="Career Programs"/>
          <xsd:enumeration value="COBP"/>
          <xsd:enumeration value="Delegation of Authority"/>
          <xsd:enumeration value="Deployment &amp; Overseas"/>
          <xsd:enumeration value="Document Standards"/>
          <xsd:enumeration value="EXSUMS"/>
          <xsd:enumeration value="Forms and Templates"/>
          <xsd:enumeration value="Leader &amp; Team Development"/>
          <xsd:enumeration value="New Analyst Support"/>
          <xsd:enumeration value="Orders and Directives"/>
          <xsd:enumeration value="Professional Development Briefings"/>
          <xsd:enumeration value="Professional Military Ed. (PME)"/>
          <xsd:enumeration value="Policy Letters"/>
          <xsd:enumeration value="Recommended Reading"/>
          <xsd:enumeration value="Reference"/>
          <xsd:enumeration value="Symposia &amp; Conferences"/>
          <xsd:enumeration value="Travel Guidance"/>
          <xsd:enumeration value="University &amp; Masters"/>
          <xsd:enumeration value="Unassigned"/>
        </xsd:restriction>
      </xsd:simpleType>
    </xsd:element>
    <xsd:element name="Date_x0020_of_x0020_Document" ma:index="9" nillable="true" ma:displayName="Date of Document" ma:default="[today]" ma:format="DateOnly" ma:internalName="Date_x0020_of_x0020_Document">
      <xsd:simpleType>
        <xsd:restriction base="dms:DateTime"/>
      </xsd:simpleType>
    </xsd:element>
    <xsd:element name="TRAC_x0020_Documents" ma:index="10" nillable="true" ma:displayName="TRAC Documents" ma:default="0" ma:internalName="TRAC_x0020_Documents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7E6A98-8AB5-4062-AC45-8FD15F83AB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D8C458-DFD6-48CE-A05A-DCECC57C0E05}">
  <ds:schemaRefs>
    <ds:schemaRef ds:uri="http://purl.org/dc/dcmitype/"/>
    <ds:schemaRef ds:uri="http://www.w3.org/XML/1998/namespace"/>
    <ds:schemaRef ds:uri="125f8d25-9f48-43f7-9ae3-a500bb145d00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45EC887-9039-458A-B6C9-2801DC072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5f8d25-9f48-43f7-9ae3-a500bb145d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20190424 TRAC PowerPoint Template</Template>
  <TotalTime>18156</TotalTime>
  <Pages>31</Pages>
  <Words>1094</Words>
  <Application>Microsoft Office PowerPoint</Application>
  <PresentationFormat>Letter Paper (8.5x11 in)</PresentationFormat>
  <Paragraphs>171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 Arial</vt:lpstr>
      <vt:lpstr>Arial</vt:lpstr>
      <vt:lpstr>Times New Roman</vt:lpstr>
      <vt:lpstr>Wingdings</vt:lpstr>
      <vt:lpstr>TRAC Powerpoint Briefing Template</vt:lpstr>
      <vt:lpstr>In Stride Analysis for  Project Convergence 21 </vt:lpstr>
      <vt:lpstr>Project Convergence Overview</vt:lpstr>
      <vt:lpstr>In-Stride Analysis for PC21</vt:lpstr>
      <vt:lpstr>PowerPoint Presentation</vt:lpstr>
      <vt:lpstr>Timing Analysis “Arrow Charts”</vt:lpstr>
      <vt:lpstr>Execution Checklist Tracker</vt:lpstr>
      <vt:lpstr>Network Criticality Graphics</vt:lpstr>
      <vt:lpstr>Network Criticality Graphics</vt:lpstr>
      <vt:lpstr>In Stride Analysis Dashboards</vt:lpstr>
      <vt:lpstr>Summary</vt:lpstr>
    </vt:vector>
  </TitlesOfParts>
  <Company>United States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 Title Here Use Subtitle if Required</dc:title>
  <dc:creator>Mathis, Jolene CIV AFC TRAC</dc:creator>
  <cp:lastModifiedBy>Matthew Smith</cp:lastModifiedBy>
  <cp:revision>84</cp:revision>
  <cp:lastPrinted>2019-01-29T20:10:13Z</cp:lastPrinted>
  <dcterms:created xsi:type="dcterms:W3CDTF">2020-07-20T21:19:42Z</dcterms:created>
  <dcterms:modified xsi:type="dcterms:W3CDTF">2022-06-09T19:03:38Z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0x010100084DD429E8BDF648AE437A5733BD8FAA</vt:lpwstr>
  </property>
  <property fmtid="{D5CDD505-2E9C-101B-9397-08002B2CF9AE}" pid="3" name="Order">
    <vt:r8>2900</vt:r8>
  </property>
</Properties>
</file>